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embeddedFontLst>
    <p:embeddedFont>
      <p:font typeface="Robo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regular.fntdata"/><Relationship Id="rId14" Type="http://schemas.openxmlformats.org/officeDocument/2006/relationships/slide" Target="slides/slide9.xml"/><Relationship Id="rId17" Type="http://schemas.openxmlformats.org/officeDocument/2006/relationships/font" Target="fonts/Roboto-italic.fntdata"/><Relationship Id="rId16"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1: Welcome to the AegisPath Enterprise major project defense presentation.</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slide_179269583479045120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slide_179269583479045120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2 covers project foundation: the problem of CVSS alert fatigue, our project objectives, and the proposed graph-theoretic solution.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slide_179269583479098600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slide_179269583479098600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3 presents the 4 key functional pillars of the system: Multi-cloud cartography, Active Directory mapping, threat intelligence, and graph reasoning.</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slide_179269583479098600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slide_179269583479098600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4 shows our multi-tier architecture and technology stack, highlighting asynchronous batch persistence to Memgraph MAGE.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slide_179269583479098600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slide_179269583479098600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5 explains the operational lifecycle and how live telemetry causes edge resistance collapse.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slide_179269583479098600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slide_179269583479098600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6 shows real screenshots of the multi-domain Ingestion Hub and the hardware-accelerated Cytoscape canvas.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slide_179269583479098600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slide_179269583479098600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7 shows the live attack path calculation and our simulation engine confirming a 19.0% reduction in attack paths.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slide_179269583479098600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slide_179269583479098600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8 details verification benchmarks, future research scope (GNNs, Kubernetes), and final project conclusions.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slide_179269583479098600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slide_179269583479098600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 9: Thank you esteemed evaluation committee. We invite questions and are ready for the live demonstration.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3" name="Shape 53"/>
        <p:cNvGrpSpPr/>
        <p:nvPr/>
      </p:nvGrpSpPr>
      <p:grpSpPr>
        <a:xfrm>
          <a:off x="0" y="0"/>
          <a:ext cx="0" cy="0"/>
          <a:chOff x="0" y="0"/>
          <a:chExt cx="0" cy="0"/>
        </a:xfrm>
      </p:grpSpPr>
      <p:sp>
        <p:nvSpPr>
          <p:cNvPr id="54" name="Google Shape;54;p13"/>
          <p:cNvSpPr/>
          <p:nvPr/>
        </p:nvSpPr>
        <p:spPr>
          <a:xfrm>
            <a:off x="0" y="0"/>
            <a:ext cx="9144000" cy="101700"/>
          </a:xfrm>
          <a:prstGeom prst="rect">
            <a:avLst/>
          </a:prstGeom>
          <a:solidFill>
            <a:srgbClr val="2563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546100" y="457200"/>
            <a:ext cx="2793900" cy="279300"/>
          </a:xfrm>
          <a:prstGeom prst="rect">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0EA5E9"/>
                </a:solidFill>
                <a:latin typeface="Roboto"/>
                <a:ea typeface="Roboto"/>
                <a:cs typeface="Roboto"/>
                <a:sym typeface="Roboto"/>
              </a:rPr>
              <a:t>MAJOR PROJECT PRESENTATION | 2026</a:t>
            </a:r>
            <a:endParaRPr b="1" sz="900">
              <a:solidFill>
                <a:srgbClr val="0EA5E9"/>
              </a:solidFill>
              <a:latin typeface="Roboto"/>
              <a:ea typeface="Roboto"/>
              <a:cs typeface="Roboto"/>
              <a:sym typeface="Roboto"/>
            </a:endParaRPr>
          </a:p>
        </p:txBody>
      </p:sp>
      <p:sp>
        <p:nvSpPr>
          <p:cNvPr id="56" name="Google Shape;56;p13"/>
          <p:cNvSpPr txBox="1"/>
          <p:nvPr/>
        </p:nvSpPr>
        <p:spPr>
          <a:xfrm>
            <a:off x="546100" y="863600"/>
            <a:ext cx="8051700" cy="91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200">
                <a:solidFill>
                  <a:srgbClr val="F8FAFC"/>
                </a:solidFill>
                <a:latin typeface="Roboto"/>
                <a:ea typeface="Roboto"/>
                <a:cs typeface="Roboto"/>
                <a:sym typeface="Roboto"/>
              </a:rPr>
              <a:t>AegisPath Enterprise: Next-Generation Adaptive Attack Path Management &amp; Multi-Cloud CTI Engine</a:t>
            </a:r>
            <a:endParaRPr b="1" sz="2200">
              <a:solidFill>
                <a:srgbClr val="F8FAFC"/>
              </a:solidFill>
              <a:latin typeface="Roboto"/>
              <a:ea typeface="Roboto"/>
              <a:cs typeface="Roboto"/>
              <a:sym typeface="Roboto"/>
            </a:endParaRPr>
          </a:p>
        </p:txBody>
      </p:sp>
      <p:sp>
        <p:nvSpPr>
          <p:cNvPr id="57" name="Google Shape;57;p13"/>
          <p:cNvSpPr txBox="1"/>
          <p:nvPr/>
        </p:nvSpPr>
        <p:spPr>
          <a:xfrm>
            <a:off x="546100" y="1854200"/>
            <a:ext cx="8051700" cy="965100"/>
          </a:xfrm>
          <a:prstGeom prst="rect">
            <a:avLst/>
          </a:prstGeom>
          <a:noFill/>
          <a:ln>
            <a:noFill/>
          </a:ln>
        </p:spPr>
        <p:txBody>
          <a:bodyPr anchorCtr="0" anchor="t" bIns="91425" lIns="91425" spcFirstLastPara="1" rIns="91425" wrap="square" tIns="91425">
            <a:noAutofit/>
          </a:bodyPr>
          <a:lstStyle/>
          <a:p>
            <a:pPr indent="0" lvl="0" marL="0" rtl="0" algn="l">
              <a:lnSpc>
                <a:spcPct val="135000"/>
              </a:lnSpc>
              <a:spcBef>
                <a:spcPts val="0"/>
              </a:spcBef>
              <a:spcAft>
                <a:spcPts val="0"/>
              </a:spcAft>
              <a:buNone/>
            </a:pPr>
            <a:r>
              <a:rPr lang="en" sz="1100">
                <a:solidFill>
                  <a:srgbClr val="94A3B8"/>
                </a:solidFill>
                <a:latin typeface="Roboto"/>
                <a:ea typeface="Roboto"/>
                <a:cs typeface="Roboto"/>
                <a:sym typeface="Roboto"/>
              </a:rPr>
              <a:t>A production-grade, distributed graph reasoning platform engineered with Python, NetworkX, Memgraph MAGE, and Redpanda. Discovers multi-cloud cartography via AWS Boto3, parses Active Directory forests via BloodHound CE, enriches vulnerabilities against live CISA KEV and FIRST.org EPSS feeds, and executes Dijkstra shortest path calculations with Betweenness Centrality Min-Cut choke point remediation.</a:t>
            </a:r>
            <a:endParaRPr sz="1100">
              <a:solidFill>
                <a:srgbClr val="94A3B8"/>
              </a:solidFill>
              <a:latin typeface="Roboto"/>
              <a:ea typeface="Roboto"/>
              <a:cs typeface="Roboto"/>
              <a:sym typeface="Roboto"/>
            </a:endParaRPr>
          </a:p>
        </p:txBody>
      </p:sp>
      <p:sp>
        <p:nvSpPr>
          <p:cNvPr id="58" name="Google Shape;58;p13"/>
          <p:cNvSpPr/>
          <p:nvPr/>
        </p:nvSpPr>
        <p:spPr>
          <a:xfrm>
            <a:off x="546100" y="2971800"/>
            <a:ext cx="8051700" cy="17526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txBox="1"/>
          <p:nvPr/>
        </p:nvSpPr>
        <p:spPr>
          <a:xfrm>
            <a:off x="736600" y="3073400"/>
            <a:ext cx="7670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38BDF8"/>
                </a:solidFill>
                <a:latin typeface="Roboto"/>
                <a:ea typeface="Roboto"/>
                <a:cs typeface="Roboto"/>
                <a:sym typeface="Roboto"/>
              </a:rPr>
              <a:t>PROJECT LEAD &amp; ARCHITECTURAL SPECIFICATION</a:t>
            </a:r>
            <a:endParaRPr b="1" sz="1000">
              <a:solidFill>
                <a:srgbClr val="38BDF8"/>
              </a:solidFill>
              <a:latin typeface="Roboto"/>
              <a:ea typeface="Roboto"/>
              <a:cs typeface="Roboto"/>
              <a:sym typeface="Roboto"/>
            </a:endParaRPr>
          </a:p>
        </p:txBody>
      </p:sp>
      <p:sp>
        <p:nvSpPr>
          <p:cNvPr id="60" name="Google Shape;60;p13"/>
          <p:cNvSpPr txBox="1"/>
          <p:nvPr/>
        </p:nvSpPr>
        <p:spPr>
          <a:xfrm>
            <a:off x="736600" y="3403600"/>
            <a:ext cx="3936900" cy="1143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000">
                <a:solidFill>
                  <a:srgbClr val="F8FAFC"/>
                </a:solidFill>
                <a:latin typeface="Roboto"/>
                <a:ea typeface="Roboto"/>
                <a:cs typeface="Roboto"/>
                <a:sym typeface="Roboto"/>
              </a:rPr>
              <a:t>Tanishq Jain</a:t>
            </a:r>
            <a:endParaRPr sz="1000">
              <a:solidFill>
                <a:srgbClr val="F8FAFC"/>
              </a:solidFill>
              <a:latin typeface="Roboto"/>
              <a:ea typeface="Roboto"/>
              <a:cs typeface="Roboto"/>
              <a:sym typeface="Roboto"/>
            </a:endParaRPr>
          </a:p>
          <a:p>
            <a:pPr indent="0" lvl="0" marL="0" rtl="0" algn="l">
              <a:lnSpc>
                <a:spcPct val="130000"/>
              </a:lnSpc>
              <a:spcBef>
                <a:spcPts val="0"/>
              </a:spcBef>
              <a:spcAft>
                <a:spcPts val="0"/>
              </a:spcAft>
              <a:buNone/>
            </a:pPr>
            <a:r>
              <a:rPr lang="en" sz="1000">
                <a:solidFill>
                  <a:srgbClr val="F8FAFC"/>
                </a:solidFill>
                <a:latin typeface="Roboto"/>
                <a:ea typeface="Roboto"/>
                <a:cs typeface="Roboto"/>
                <a:sym typeface="Roboto"/>
              </a:rPr>
              <a:t>Enrollment: 233CSF010 | Dept of CSE | Guide: Mr. Dhananjay Kumar Prasad</a:t>
            </a:r>
            <a:endParaRPr sz="1000">
              <a:solidFill>
                <a:srgbClr val="F8FAFC"/>
              </a:solidFill>
              <a:latin typeface="Roboto"/>
              <a:ea typeface="Roboto"/>
              <a:cs typeface="Roboto"/>
              <a:sym typeface="Roboto"/>
            </a:endParaRPr>
          </a:p>
          <a:p>
            <a:pPr indent="0" lvl="0" marL="0" rtl="0" algn="l">
              <a:lnSpc>
                <a:spcPct val="130000"/>
              </a:lnSpc>
              <a:spcBef>
                <a:spcPts val="0"/>
              </a:spcBef>
              <a:spcAft>
                <a:spcPts val="0"/>
              </a:spcAft>
              <a:buNone/>
            </a:pPr>
            <a:r>
              <a:rPr lang="en" sz="1000">
                <a:solidFill>
                  <a:srgbClr val="F8FAFC"/>
                </a:solidFill>
                <a:latin typeface="Roboto"/>
                <a:ea typeface="Roboto"/>
                <a:cs typeface="Roboto"/>
                <a:sym typeface="Roboto"/>
              </a:rPr>
              <a:t>Role: Lead Systems Architect &amp; Security Engineering</a:t>
            </a:r>
            <a:endParaRPr sz="1000">
              <a:solidFill>
                <a:srgbClr val="F8FAFC"/>
              </a:solidFill>
              <a:latin typeface="Roboto"/>
              <a:ea typeface="Roboto"/>
              <a:cs typeface="Roboto"/>
              <a:sym typeface="Roboto"/>
            </a:endParaRPr>
          </a:p>
          <a:p>
            <a:pPr indent="0" lvl="0" marL="0" rtl="0" algn="l">
              <a:lnSpc>
                <a:spcPct val="130000"/>
              </a:lnSpc>
              <a:spcBef>
                <a:spcPts val="0"/>
              </a:spcBef>
              <a:spcAft>
                <a:spcPts val="0"/>
              </a:spcAft>
              <a:buNone/>
            </a:pPr>
            <a:r>
              <a:rPr lang="en" sz="1000">
                <a:solidFill>
                  <a:srgbClr val="F8FAFC"/>
                </a:solidFill>
                <a:latin typeface="Roboto"/>
                <a:ea typeface="Roboto"/>
                <a:cs typeface="Roboto"/>
                <a:sym typeface="Roboto"/>
              </a:rPr>
              <a:t>Core Focus: Graph Theory, Boto3 Cartography, Memgraph Async Pipeline</a:t>
            </a:r>
            <a:endParaRPr sz="1000">
              <a:solidFill>
                <a:srgbClr val="F8FAFC"/>
              </a:solidFill>
              <a:latin typeface="Roboto"/>
              <a:ea typeface="Roboto"/>
              <a:cs typeface="Roboto"/>
              <a:sym typeface="Roboto"/>
            </a:endParaRPr>
          </a:p>
        </p:txBody>
      </p:sp>
      <p:sp>
        <p:nvSpPr>
          <p:cNvPr id="61" name="Google Shape;61;p13"/>
          <p:cNvSpPr txBox="1"/>
          <p:nvPr/>
        </p:nvSpPr>
        <p:spPr>
          <a:xfrm>
            <a:off x="4800600" y="3403600"/>
            <a:ext cx="3606900" cy="11430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000">
                <a:solidFill>
                  <a:srgbClr val="94A3B8"/>
                </a:solidFill>
                <a:latin typeface="Roboto"/>
                <a:ea typeface="Roboto"/>
                <a:cs typeface="Roboto"/>
                <a:sym typeface="Roboto"/>
              </a:rPr>
              <a:t>Project Classification: Enterprise Cyber Defense &amp; Graph Reasoning</a:t>
            </a:r>
            <a:endParaRPr sz="1000">
              <a:solidFill>
                <a:srgbClr val="94A3B8"/>
              </a:solidFill>
              <a:latin typeface="Roboto"/>
              <a:ea typeface="Roboto"/>
              <a:cs typeface="Roboto"/>
              <a:sym typeface="Roboto"/>
            </a:endParaRPr>
          </a:p>
          <a:p>
            <a:pPr indent="0" lvl="0" marL="0" rtl="0" algn="l">
              <a:lnSpc>
                <a:spcPct val="130000"/>
              </a:lnSpc>
              <a:spcBef>
                <a:spcPts val="0"/>
              </a:spcBef>
              <a:spcAft>
                <a:spcPts val="0"/>
              </a:spcAft>
              <a:buNone/>
            </a:pPr>
            <a:r>
              <a:rPr lang="en" sz="1000">
                <a:solidFill>
                  <a:srgbClr val="94A3B8"/>
                </a:solidFill>
                <a:latin typeface="Roboto"/>
                <a:ea typeface="Roboto"/>
                <a:cs typeface="Roboto"/>
                <a:sym typeface="Roboto"/>
              </a:rPr>
              <a:t>Open Source Repository: github.com/genre-tech/aegispath (Apache 2.0)</a:t>
            </a:r>
            <a:endParaRPr sz="1000">
              <a:solidFill>
                <a:srgbClr val="94A3B8"/>
              </a:solidFill>
              <a:latin typeface="Roboto"/>
              <a:ea typeface="Roboto"/>
              <a:cs typeface="Roboto"/>
              <a:sym typeface="Roboto"/>
            </a:endParaRPr>
          </a:p>
          <a:p>
            <a:pPr indent="0" lvl="0" marL="0" rtl="0" algn="l">
              <a:lnSpc>
                <a:spcPct val="130000"/>
              </a:lnSpc>
              <a:spcBef>
                <a:spcPts val="0"/>
              </a:spcBef>
              <a:spcAft>
                <a:spcPts val="0"/>
              </a:spcAft>
              <a:buNone/>
            </a:pPr>
            <a:r>
              <a:rPr lang="en" sz="1000">
                <a:solidFill>
                  <a:srgbClr val="94A3B8"/>
                </a:solidFill>
                <a:latin typeface="Roboto"/>
                <a:ea typeface="Roboto"/>
                <a:cs typeface="Roboto"/>
                <a:sym typeface="Roboto"/>
              </a:rPr>
              <a:t>Core Technology Stack: NetworkX • Memgraph MAGE • Redpanda • Cytoscape.js</a:t>
            </a:r>
            <a:endParaRPr sz="1000">
              <a:solidFill>
                <a:srgbClr val="94A3B8"/>
              </a:solidFill>
              <a:latin typeface="Roboto"/>
              <a:ea typeface="Roboto"/>
              <a:cs typeface="Roboto"/>
              <a:sym typeface="Roboto"/>
            </a:endParaRPr>
          </a:p>
          <a:p>
            <a:pPr indent="0" lvl="0" marL="0" rtl="0" algn="l">
              <a:lnSpc>
                <a:spcPct val="130000"/>
              </a:lnSpc>
              <a:spcBef>
                <a:spcPts val="0"/>
              </a:spcBef>
              <a:spcAft>
                <a:spcPts val="0"/>
              </a:spcAft>
              <a:buNone/>
            </a:pPr>
            <a:r>
              <a:rPr lang="en" sz="1000">
                <a:solidFill>
                  <a:srgbClr val="94A3B8"/>
                </a:solidFill>
                <a:latin typeface="Roboto"/>
                <a:ea typeface="Roboto"/>
                <a:cs typeface="Roboto"/>
                <a:sym typeface="Roboto"/>
              </a:rPr>
              <a:t>Empirical Verification: Tested on Real Active Directory Forest (PHANTOM.CORP)</a:t>
            </a:r>
            <a:endParaRPr sz="1000">
              <a:solidFill>
                <a:srgbClr val="94A3B8"/>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65" name="Shape 65"/>
        <p:cNvGrpSpPr/>
        <p:nvPr/>
      </p:nvGrpSpPr>
      <p:grpSpPr>
        <a:xfrm>
          <a:off x="0" y="0"/>
          <a:ext cx="0" cy="0"/>
          <a:chOff x="0" y="0"/>
          <a:chExt cx="0" cy="0"/>
        </a:xfrm>
      </p:grpSpPr>
      <p:sp>
        <p:nvSpPr>
          <p:cNvPr id="66" name="Google Shape;66;p14"/>
          <p:cNvSpPr/>
          <p:nvPr/>
        </p:nvSpPr>
        <p:spPr>
          <a:xfrm>
            <a:off x="546100" y="228600"/>
            <a:ext cx="2159100" cy="2541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txBox="1"/>
          <p:nvPr/>
        </p:nvSpPr>
        <p:spPr>
          <a:xfrm>
            <a:off x="546100" y="228600"/>
            <a:ext cx="2159100" cy="2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50">
                <a:solidFill>
                  <a:srgbClr val="38BDF8"/>
                </a:solidFill>
                <a:latin typeface="Roboto"/>
                <a:ea typeface="Roboto"/>
                <a:cs typeface="Roboto"/>
                <a:sym typeface="Roboto"/>
              </a:rPr>
              <a:t>PROJECT FOUNDATION</a:t>
            </a:r>
            <a:endParaRPr b="1" sz="850">
              <a:solidFill>
                <a:srgbClr val="38BDF8"/>
              </a:solidFill>
              <a:latin typeface="Roboto"/>
              <a:ea typeface="Roboto"/>
              <a:cs typeface="Roboto"/>
              <a:sym typeface="Roboto"/>
            </a:endParaRPr>
          </a:p>
        </p:txBody>
      </p:sp>
      <p:sp>
        <p:nvSpPr>
          <p:cNvPr id="68" name="Google Shape;68;p14"/>
          <p:cNvSpPr txBox="1"/>
          <p:nvPr/>
        </p:nvSpPr>
        <p:spPr>
          <a:xfrm>
            <a:off x="546100" y="533400"/>
            <a:ext cx="8051700" cy="43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F8FAFC"/>
                </a:solidFill>
                <a:latin typeface="Roboto"/>
                <a:ea typeface="Roboto"/>
                <a:cs typeface="Roboto"/>
                <a:sym typeface="Roboto"/>
              </a:rPr>
              <a:t>Problem Statement, Objectives and Proposed Solution</a:t>
            </a:r>
            <a:endParaRPr b="1" sz="1800">
              <a:solidFill>
                <a:srgbClr val="F8FAFC"/>
              </a:solidFill>
              <a:latin typeface="Roboto"/>
              <a:ea typeface="Roboto"/>
              <a:cs typeface="Roboto"/>
              <a:sym typeface="Roboto"/>
            </a:endParaRPr>
          </a:p>
        </p:txBody>
      </p:sp>
      <p:sp>
        <p:nvSpPr>
          <p:cNvPr id="69" name="Google Shape;69;p14"/>
          <p:cNvSpPr/>
          <p:nvPr/>
        </p:nvSpPr>
        <p:spPr>
          <a:xfrm>
            <a:off x="546100" y="1041400"/>
            <a:ext cx="2514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0" name="Google Shape;70;p14"/>
          <p:cNvSpPr txBox="1"/>
          <p:nvPr/>
        </p:nvSpPr>
        <p:spPr>
          <a:xfrm>
            <a:off x="673100" y="1168400"/>
            <a:ext cx="2260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43F5E"/>
                </a:solidFill>
                <a:latin typeface="Roboto"/>
                <a:ea typeface="Roboto"/>
                <a:cs typeface="Roboto"/>
                <a:sym typeface="Roboto"/>
              </a:rPr>
              <a:t>Problem Statement</a:t>
            </a:r>
            <a:endParaRPr b="1" sz="1300">
              <a:solidFill>
                <a:srgbClr val="F43F5E"/>
              </a:solidFill>
              <a:latin typeface="Roboto"/>
              <a:ea typeface="Roboto"/>
              <a:cs typeface="Roboto"/>
              <a:sym typeface="Roboto"/>
            </a:endParaRPr>
          </a:p>
        </p:txBody>
      </p:sp>
      <p:sp>
        <p:nvSpPr>
          <p:cNvPr id="71" name="Google Shape;71;p14"/>
          <p:cNvSpPr txBox="1"/>
          <p:nvPr/>
        </p:nvSpPr>
        <p:spPr>
          <a:xfrm>
            <a:off x="673100" y="1524000"/>
            <a:ext cx="2260500" cy="31749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The CVSS Fallacy: Traditional scanners report thousands of isolated vulnerabilities without operational reachability context.</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The Graph Blindspot: Adversaries exploit identity trusts and lateral movement, which relational tables cannot map.</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Multi-Cloud Silos: AWS Security Groups, IAM Roles, and Active Directory ACLs operate in disconnected silos.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Remediation Guesswork: Security teams lack quantitative proof of which choke points sever maximum breach risk.</a:t>
            </a:r>
            <a:endParaRPr sz="950">
              <a:solidFill>
                <a:srgbClr val="94A3B8"/>
              </a:solidFill>
              <a:latin typeface="Roboto"/>
              <a:ea typeface="Roboto"/>
              <a:cs typeface="Roboto"/>
              <a:sym typeface="Roboto"/>
            </a:endParaRPr>
          </a:p>
        </p:txBody>
      </p:sp>
      <p:sp>
        <p:nvSpPr>
          <p:cNvPr id="72" name="Google Shape;72;p14"/>
          <p:cNvSpPr/>
          <p:nvPr/>
        </p:nvSpPr>
        <p:spPr>
          <a:xfrm>
            <a:off x="3314700" y="1041400"/>
            <a:ext cx="2514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 name="Google Shape;73;p14"/>
          <p:cNvSpPr txBox="1"/>
          <p:nvPr/>
        </p:nvSpPr>
        <p:spPr>
          <a:xfrm>
            <a:off x="3441700" y="1168400"/>
            <a:ext cx="2260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38BDF8"/>
                </a:solidFill>
                <a:latin typeface="Roboto"/>
                <a:ea typeface="Roboto"/>
                <a:cs typeface="Roboto"/>
                <a:sym typeface="Roboto"/>
              </a:rPr>
              <a:t>Project Objectives</a:t>
            </a:r>
            <a:endParaRPr b="1" sz="1300">
              <a:solidFill>
                <a:srgbClr val="38BDF8"/>
              </a:solidFill>
              <a:latin typeface="Roboto"/>
              <a:ea typeface="Roboto"/>
              <a:cs typeface="Roboto"/>
              <a:sym typeface="Roboto"/>
            </a:endParaRPr>
          </a:p>
        </p:txBody>
      </p:sp>
      <p:sp>
        <p:nvSpPr>
          <p:cNvPr id="74" name="Google Shape;74;p14"/>
          <p:cNvSpPr txBox="1"/>
          <p:nvPr/>
        </p:nvSpPr>
        <p:spPr>
          <a:xfrm>
            <a:off x="3441700" y="1524000"/>
            <a:ext cx="2260500" cy="31749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Unified Graph Cartography: Correlate AWS compute, IAM policies, Active Directory ACEs, and container CVEs.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Mathematical Traversability: Dynamically weight graph edges using FIRST.org EPSS and CISA KEV feeds.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Real-Time Recalibration: Collapse edge resistance on active EDR alerts via Server-Sent Events.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Min-Cut Choke Point Discovery: Identify cut-vertices via Betweenness Centrality.</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60 FPS Sub-Graph Projection: Render dense 1,500+ vector graphs with zero browser DOM lag.</a:t>
            </a:r>
            <a:endParaRPr sz="950">
              <a:solidFill>
                <a:srgbClr val="94A3B8"/>
              </a:solidFill>
              <a:latin typeface="Roboto"/>
              <a:ea typeface="Roboto"/>
              <a:cs typeface="Roboto"/>
              <a:sym typeface="Roboto"/>
            </a:endParaRPr>
          </a:p>
        </p:txBody>
      </p:sp>
      <p:sp>
        <p:nvSpPr>
          <p:cNvPr id="75" name="Google Shape;75;p14"/>
          <p:cNvSpPr/>
          <p:nvPr/>
        </p:nvSpPr>
        <p:spPr>
          <a:xfrm>
            <a:off x="6083300" y="1041400"/>
            <a:ext cx="2514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4"/>
          <p:cNvSpPr txBox="1"/>
          <p:nvPr/>
        </p:nvSpPr>
        <p:spPr>
          <a:xfrm>
            <a:off x="6210300" y="1168400"/>
            <a:ext cx="2260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10B981"/>
                </a:solidFill>
                <a:latin typeface="Roboto"/>
                <a:ea typeface="Roboto"/>
                <a:cs typeface="Roboto"/>
                <a:sym typeface="Roboto"/>
              </a:rPr>
              <a:t>Proposed Solution</a:t>
            </a:r>
            <a:endParaRPr b="1" sz="1300">
              <a:solidFill>
                <a:srgbClr val="10B981"/>
              </a:solidFill>
              <a:latin typeface="Roboto"/>
              <a:ea typeface="Roboto"/>
              <a:cs typeface="Roboto"/>
              <a:sym typeface="Roboto"/>
            </a:endParaRPr>
          </a:p>
        </p:txBody>
      </p:sp>
      <p:sp>
        <p:nvSpPr>
          <p:cNvPr id="77" name="Google Shape;77;p14"/>
          <p:cNvSpPr txBox="1"/>
          <p:nvPr/>
        </p:nvSpPr>
        <p:spPr>
          <a:xfrm>
            <a:off x="6210300" y="1524000"/>
            <a:ext cx="2260500" cy="31749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AegisPath Enterprise: A 100% open-source adaptive attack path engine combining NetworkX, Memgraph MAGE, Redpanda, and Boto3.</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Dynamic Dijkstra Resistance: Edge weight W = 1 / Traversability pulls critical paths toward actively exploited assets.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BloodHound CE Ingestion: Polymorphic session parser resolves nested groups and DCSync vectors.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What-If Simulation Engine: Non-destructive in-memory graph severance tests defensive ROI before deployment.</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Hardware-Accelerated Canvas: Cytoscape.js with GPU texture buffering and deferred label rendering.</a:t>
            </a:r>
            <a:endParaRPr sz="950">
              <a:solidFill>
                <a:srgbClr val="94A3B8"/>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1" name="Shape 81"/>
        <p:cNvGrpSpPr/>
        <p:nvPr/>
      </p:nvGrpSpPr>
      <p:grpSpPr>
        <a:xfrm>
          <a:off x="0" y="0"/>
          <a:ext cx="0" cy="0"/>
          <a:chOff x="0" y="0"/>
          <a:chExt cx="0" cy="0"/>
        </a:xfrm>
      </p:grpSpPr>
      <p:sp>
        <p:nvSpPr>
          <p:cNvPr id="82" name="Google Shape;82;p15"/>
          <p:cNvSpPr/>
          <p:nvPr/>
        </p:nvSpPr>
        <p:spPr>
          <a:xfrm>
            <a:off x="546100" y="228600"/>
            <a:ext cx="2159100" cy="2541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 name="Google Shape;83;p15"/>
          <p:cNvSpPr txBox="1"/>
          <p:nvPr/>
        </p:nvSpPr>
        <p:spPr>
          <a:xfrm>
            <a:off x="546100" y="228600"/>
            <a:ext cx="2159100" cy="2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50">
                <a:solidFill>
                  <a:srgbClr val="38BDF8"/>
                </a:solidFill>
                <a:latin typeface="Roboto"/>
                <a:ea typeface="Roboto"/>
                <a:cs typeface="Roboto"/>
                <a:sym typeface="Roboto"/>
              </a:rPr>
              <a:t>SYSTEM CAPABILITIES</a:t>
            </a:r>
            <a:endParaRPr b="1" sz="850">
              <a:solidFill>
                <a:srgbClr val="38BDF8"/>
              </a:solidFill>
              <a:latin typeface="Roboto"/>
              <a:ea typeface="Roboto"/>
              <a:cs typeface="Roboto"/>
              <a:sym typeface="Roboto"/>
            </a:endParaRPr>
          </a:p>
        </p:txBody>
      </p:sp>
      <p:sp>
        <p:nvSpPr>
          <p:cNvPr id="84" name="Google Shape;84;p15"/>
          <p:cNvSpPr txBox="1"/>
          <p:nvPr/>
        </p:nvSpPr>
        <p:spPr>
          <a:xfrm>
            <a:off x="546100" y="533400"/>
            <a:ext cx="8051700" cy="43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F8FAFC"/>
                </a:solidFill>
                <a:latin typeface="Roboto"/>
                <a:ea typeface="Roboto"/>
                <a:cs typeface="Roboto"/>
                <a:sym typeface="Roboto"/>
              </a:rPr>
              <a:t>Key Functional Features and Core Modules</a:t>
            </a:r>
            <a:endParaRPr b="1" sz="1800">
              <a:solidFill>
                <a:srgbClr val="F8FAFC"/>
              </a:solidFill>
              <a:latin typeface="Roboto"/>
              <a:ea typeface="Roboto"/>
              <a:cs typeface="Roboto"/>
              <a:sym typeface="Roboto"/>
            </a:endParaRPr>
          </a:p>
        </p:txBody>
      </p:sp>
      <p:sp>
        <p:nvSpPr>
          <p:cNvPr id="85" name="Google Shape;85;p15"/>
          <p:cNvSpPr/>
          <p:nvPr/>
        </p:nvSpPr>
        <p:spPr>
          <a:xfrm>
            <a:off x="546100" y="1041400"/>
            <a:ext cx="3873600" cy="17526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15"/>
          <p:cNvSpPr txBox="1"/>
          <p:nvPr/>
        </p:nvSpPr>
        <p:spPr>
          <a:xfrm>
            <a:off x="698500" y="1143000"/>
            <a:ext cx="3555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38BDF8"/>
                </a:solidFill>
                <a:latin typeface="Roboto"/>
                <a:ea typeface="Roboto"/>
                <a:cs typeface="Roboto"/>
                <a:sym typeface="Roboto"/>
              </a:rPr>
              <a:t>1. Multi-Cloud Cartography (AWS Boto3)</a:t>
            </a:r>
            <a:endParaRPr b="1" sz="1200">
              <a:solidFill>
                <a:srgbClr val="38BDF8"/>
              </a:solidFill>
              <a:latin typeface="Roboto"/>
              <a:ea typeface="Roboto"/>
              <a:cs typeface="Roboto"/>
              <a:sym typeface="Roboto"/>
            </a:endParaRPr>
          </a:p>
        </p:txBody>
      </p:sp>
      <p:sp>
        <p:nvSpPr>
          <p:cNvPr id="87" name="Google Shape;87;p15"/>
          <p:cNvSpPr txBox="1"/>
          <p:nvPr/>
        </p:nvSpPr>
        <p:spPr>
          <a:xfrm>
            <a:off x="698500" y="1473200"/>
            <a:ext cx="3555900" cy="12192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Automated read-only crawler across EC2, IAM Roles, Security Groups, S3, RDS.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Strips Availability Zone suffixes (e.g. ap-southeast-2b -&gt; ap-southeast-2).</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Dynamically maps network perimeters, public interfaces, and assumed role trust policies.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Zero-Mock baseline ensures pure authentic enterprise perimeter state.</a:t>
            </a:r>
            <a:endParaRPr sz="950">
              <a:solidFill>
                <a:srgbClr val="94A3B8"/>
              </a:solidFill>
              <a:latin typeface="Roboto"/>
              <a:ea typeface="Roboto"/>
              <a:cs typeface="Roboto"/>
              <a:sym typeface="Roboto"/>
            </a:endParaRPr>
          </a:p>
        </p:txBody>
      </p:sp>
      <p:sp>
        <p:nvSpPr>
          <p:cNvPr id="88" name="Google Shape;88;p15"/>
          <p:cNvSpPr/>
          <p:nvPr/>
        </p:nvSpPr>
        <p:spPr>
          <a:xfrm>
            <a:off x="4724400" y="1041400"/>
            <a:ext cx="3873600" cy="17526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9" name="Google Shape;89;p15"/>
          <p:cNvSpPr txBox="1"/>
          <p:nvPr/>
        </p:nvSpPr>
        <p:spPr>
          <a:xfrm>
            <a:off x="4876800" y="1143000"/>
            <a:ext cx="3555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C084FC"/>
                </a:solidFill>
                <a:latin typeface="Roboto"/>
                <a:ea typeface="Roboto"/>
                <a:cs typeface="Roboto"/>
                <a:sym typeface="Roboto"/>
              </a:rPr>
              <a:t>2. Active Directory Ingestion (BloodHound CE)</a:t>
            </a:r>
            <a:endParaRPr b="1" sz="1200">
              <a:solidFill>
                <a:srgbClr val="C084FC"/>
              </a:solidFill>
              <a:latin typeface="Roboto"/>
              <a:ea typeface="Roboto"/>
              <a:cs typeface="Roboto"/>
              <a:sym typeface="Roboto"/>
            </a:endParaRPr>
          </a:p>
        </p:txBody>
      </p:sp>
      <p:sp>
        <p:nvSpPr>
          <p:cNvPr id="90" name="Google Shape;90;p15"/>
          <p:cNvSpPr txBox="1"/>
          <p:nvPr/>
        </p:nvSpPr>
        <p:spPr>
          <a:xfrm>
            <a:off x="4876800" y="1473200"/>
            <a:ext cx="3555900" cy="12192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Polymorphic JSON parsing supporting SharpHound CE v4/v5 dictionary &amp; list structures.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Resolves nested group delegations, GenericAll, WriteDacl, and DCSync rights.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Automatically flags Domain Controllers and Enterprise Admins as Tier-0 Crown Jewels.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Tested on full enterprise forest PHANTOM.CORP (485 nodes, 1,459 edges).</a:t>
            </a:r>
            <a:endParaRPr sz="950">
              <a:solidFill>
                <a:srgbClr val="94A3B8"/>
              </a:solidFill>
              <a:latin typeface="Roboto"/>
              <a:ea typeface="Roboto"/>
              <a:cs typeface="Roboto"/>
              <a:sym typeface="Roboto"/>
            </a:endParaRPr>
          </a:p>
        </p:txBody>
      </p:sp>
      <p:sp>
        <p:nvSpPr>
          <p:cNvPr id="91" name="Google Shape;91;p15"/>
          <p:cNvSpPr/>
          <p:nvPr/>
        </p:nvSpPr>
        <p:spPr>
          <a:xfrm>
            <a:off x="546100" y="2971800"/>
            <a:ext cx="3873600" cy="18543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5"/>
          <p:cNvSpPr txBox="1"/>
          <p:nvPr/>
        </p:nvSpPr>
        <p:spPr>
          <a:xfrm>
            <a:off x="698500" y="3073400"/>
            <a:ext cx="3555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59E0B"/>
                </a:solidFill>
                <a:latin typeface="Roboto"/>
                <a:ea typeface="Roboto"/>
                <a:cs typeface="Roboto"/>
                <a:sym typeface="Roboto"/>
              </a:rPr>
              <a:t>3. Dynamic Threat Intelligence (EPSS &amp; KEV)</a:t>
            </a:r>
            <a:endParaRPr b="1" sz="1200">
              <a:solidFill>
                <a:srgbClr val="F59E0B"/>
              </a:solidFill>
              <a:latin typeface="Roboto"/>
              <a:ea typeface="Roboto"/>
              <a:cs typeface="Roboto"/>
              <a:sym typeface="Roboto"/>
            </a:endParaRPr>
          </a:p>
        </p:txBody>
      </p:sp>
      <p:sp>
        <p:nvSpPr>
          <p:cNvPr id="93" name="Google Shape;93;p15"/>
          <p:cNvSpPr txBox="1"/>
          <p:nvPr/>
        </p:nvSpPr>
        <p:spPr>
          <a:xfrm>
            <a:off x="698500" y="3403600"/>
            <a:ext cx="3555900" cy="13209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Real-time integration with FIRST.org EPSS API (empirical exploit probability).</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Automated ingest of CISA Known Exploited Vulnerabilities catalog (1,754 CVEs).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Local disk cache (cti_cache.json) guarantees sub-millisecond offline performance.</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CVEs in CISA KEV receive an automatic 1.5x traversability multiplier.</a:t>
            </a:r>
            <a:endParaRPr sz="950">
              <a:solidFill>
                <a:srgbClr val="94A3B8"/>
              </a:solidFill>
              <a:latin typeface="Roboto"/>
              <a:ea typeface="Roboto"/>
              <a:cs typeface="Roboto"/>
              <a:sym typeface="Roboto"/>
            </a:endParaRPr>
          </a:p>
        </p:txBody>
      </p:sp>
      <p:sp>
        <p:nvSpPr>
          <p:cNvPr id="94" name="Google Shape;94;p15"/>
          <p:cNvSpPr/>
          <p:nvPr/>
        </p:nvSpPr>
        <p:spPr>
          <a:xfrm>
            <a:off x="4724400" y="2971800"/>
            <a:ext cx="3873600" cy="18543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5"/>
          <p:cNvSpPr txBox="1"/>
          <p:nvPr/>
        </p:nvSpPr>
        <p:spPr>
          <a:xfrm>
            <a:off x="4876800" y="3073400"/>
            <a:ext cx="3555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0B981"/>
                </a:solidFill>
                <a:latin typeface="Roboto"/>
                <a:ea typeface="Roboto"/>
                <a:cs typeface="Roboto"/>
                <a:sym typeface="Roboto"/>
              </a:rPr>
              <a:t>4. Algorithmic Reasoning &amp; Remediation</a:t>
            </a:r>
            <a:endParaRPr b="1" sz="1200">
              <a:solidFill>
                <a:srgbClr val="10B981"/>
              </a:solidFill>
              <a:latin typeface="Roboto"/>
              <a:ea typeface="Roboto"/>
              <a:cs typeface="Roboto"/>
              <a:sym typeface="Roboto"/>
            </a:endParaRPr>
          </a:p>
        </p:txBody>
      </p:sp>
      <p:sp>
        <p:nvSpPr>
          <p:cNvPr id="96" name="Google Shape;96;p15"/>
          <p:cNvSpPr txBox="1"/>
          <p:nvPr/>
        </p:nvSpPr>
        <p:spPr>
          <a:xfrm>
            <a:off x="4876800" y="3403600"/>
            <a:ext cx="3555900" cy="13209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Dijkstra pathfinding calculates least-resistance routes from perimeter to Crown Jewels.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Betweenness Centrality identifies topological cut-vertices severing maximum paths.</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'What-If' simulator clones in-memory state to quantify percentage risk reduction.</a:t>
            </a:r>
            <a:endParaRPr sz="950">
              <a:solidFill>
                <a:srgbClr val="94A3B8"/>
              </a:solidFill>
              <a:latin typeface="Roboto"/>
              <a:ea typeface="Roboto"/>
              <a:cs typeface="Roboto"/>
              <a:sym typeface="Roboto"/>
            </a:endParaRPr>
          </a:p>
          <a:p>
            <a:pPr indent="0" lvl="0" marL="0" rtl="0" algn="l">
              <a:lnSpc>
                <a:spcPct val="125000"/>
              </a:lnSpc>
              <a:spcBef>
                <a:spcPts val="0"/>
              </a:spcBef>
              <a:spcAft>
                <a:spcPts val="0"/>
              </a:spcAft>
              <a:buNone/>
            </a:pPr>
            <a:r>
              <a:rPr lang="en" sz="950">
                <a:solidFill>
                  <a:srgbClr val="94A3B8"/>
                </a:solidFill>
                <a:latin typeface="Roboto"/>
                <a:ea typeface="Roboto"/>
                <a:cs typeface="Roboto"/>
                <a:sym typeface="Roboto"/>
              </a:rPr>
              <a:t>• Server-Sent Events (SSE) broadcast graph mutations to web clients in real time.</a:t>
            </a:r>
            <a:endParaRPr sz="950">
              <a:solidFill>
                <a:srgbClr val="94A3B8"/>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0" name="Shape 100"/>
        <p:cNvGrpSpPr/>
        <p:nvPr/>
      </p:nvGrpSpPr>
      <p:grpSpPr>
        <a:xfrm>
          <a:off x="0" y="0"/>
          <a:ext cx="0" cy="0"/>
          <a:chOff x="0" y="0"/>
          <a:chExt cx="0" cy="0"/>
        </a:xfrm>
      </p:grpSpPr>
      <p:sp>
        <p:nvSpPr>
          <p:cNvPr id="101" name="Google Shape;101;p16"/>
          <p:cNvSpPr/>
          <p:nvPr/>
        </p:nvSpPr>
        <p:spPr>
          <a:xfrm>
            <a:off x="546100" y="228600"/>
            <a:ext cx="2159100" cy="2541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 name="Google Shape;102;p16"/>
          <p:cNvSpPr txBox="1"/>
          <p:nvPr/>
        </p:nvSpPr>
        <p:spPr>
          <a:xfrm>
            <a:off x="546100" y="228600"/>
            <a:ext cx="2159100" cy="2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50">
                <a:solidFill>
                  <a:srgbClr val="38BDF8"/>
                </a:solidFill>
                <a:latin typeface="Roboto"/>
                <a:ea typeface="Roboto"/>
                <a:cs typeface="Roboto"/>
                <a:sym typeface="Roboto"/>
              </a:rPr>
              <a:t>SYSTEM ARCHITECTURE</a:t>
            </a:r>
            <a:endParaRPr b="1" sz="850">
              <a:solidFill>
                <a:srgbClr val="38BDF8"/>
              </a:solidFill>
              <a:latin typeface="Roboto"/>
              <a:ea typeface="Roboto"/>
              <a:cs typeface="Roboto"/>
              <a:sym typeface="Roboto"/>
            </a:endParaRPr>
          </a:p>
        </p:txBody>
      </p:sp>
      <p:sp>
        <p:nvSpPr>
          <p:cNvPr id="103" name="Google Shape;103;p16"/>
          <p:cNvSpPr txBox="1"/>
          <p:nvPr/>
        </p:nvSpPr>
        <p:spPr>
          <a:xfrm>
            <a:off x="546100" y="533400"/>
            <a:ext cx="8051700" cy="43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F8FAFC"/>
                </a:solidFill>
                <a:latin typeface="Roboto"/>
                <a:ea typeface="Roboto"/>
                <a:cs typeface="Roboto"/>
                <a:sym typeface="Roboto"/>
              </a:rPr>
              <a:t>Technology Stack and System Architecture</a:t>
            </a:r>
            <a:endParaRPr b="1" sz="1800">
              <a:solidFill>
                <a:srgbClr val="F8FAFC"/>
              </a:solidFill>
              <a:latin typeface="Roboto"/>
              <a:ea typeface="Roboto"/>
              <a:cs typeface="Roboto"/>
              <a:sym typeface="Roboto"/>
            </a:endParaRPr>
          </a:p>
        </p:txBody>
      </p:sp>
      <p:sp>
        <p:nvSpPr>
          <p:cNvPr id="104" name="Google Shape;104;p16"/>
          <p:cNvSpPr/>
          <p:nvPr/>
        </p:nvSpPr>
        <p:spPr>
          <a:xfrm>
            <a:off x="546100" y="1041400"/>
            <a:ext cx="3873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6"/>
          <p:cNvSpPr txBox="1"/>
          <p:nvPr/>
        </p:nvSpPr>
        <p:spPr>
          <a:xfrm>
            <a:off x="698500" y="1168400"/>
            <a:ext cx="35559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8FAFC"/>
                </a:solidFill>
                <a:latin typeface="Roboto"/>
                <a:ea typeface="Roboto"/>
                <a:cs typeface="Roboto"/>
                <a:sym typeface="Roboto"/>
              </a:rPr>
              <a:t>Technology Stack</a:t>
            </a:r>
            <a:endParaRPr b="1" sz="1300">
              <a:solidFill>
                <a:srgbClr val="F8FAFC"/>
              </a:solidFill>
              <a:latin typeface="Roboto"/>
              <a:ea typeface="Roboto"/>
              <a:cs typeface="Roboto"/>
              <a:sym typeface="Roboto"/>
            </a:endParaRPr>
          </a:p>
        </p:txBody>
      </p:sp>
      <p:sp>
        <p:nvSpPr>
          <p:cNvPr id="106" name="Google Shape;106;p16"/>
          <p:cNvSpPr txBox="1"/>
          <p:nvPr/>
        </p:nvSpPr>
        <p:spPr>
          <a:xfrm>
            <a:off x="698500" y="1524000"/>
            <a:ext cx="3555900" cy="31749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Frontend Presentation Layer</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Cytoscape.js &amp; Dagre Hierarchical Engine</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Inter UI &amp; JetBrains Mono typography</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Non-blocking In-App Toast notification stack</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Backend &amp; Core Reasoning Engine</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Python 3.11, NetworkX (In-Memory DiGraph)</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Flask REST API &amp; Server-Sent Events (SSE)</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Boto3 (AWS SDK) &amp; Defensive BloodHound Parsers</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Database &amp; Real-Time Event Streaming</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Memgraph MAGE (C++ In-Memory Graph DB, Bolt :7687)</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Redpanda (Kafka-compatible Event Streaming, Port :19092)</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Threat Intelligence Layer</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CISA KEV (1,754 CVEs) &amp; FIRST.org EPSS API</a:t>
            </a:r>
            <a:endParaRPr sz="950">
              <a:solidFill>
                <a:srgbClr val="94A3B8"/>
              </a:solidFill>
              <a:latin typeface="Roboto"/>
              <a:ea typeface="Roboto"/>
              <a:cs typeface="Roboto"/>
              <a:sym typeface="Roboto"/>
            </a:endParaRPr>
          </a:p>
        </p:txBody>
      </p:sp>
      <p:sp>
        <p:nvSpPr>
          <p:cNvPr id="107" name="Google Shape;107;p16"/>
          <p:cNvSpPr/>
          <p:nvPr/>
        </p:nvSpPr>
        <p:spPr>
          <a:xfrm>
            <a:off x="4724400" y="1041400"/>
            <a:ext cx="3873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 name="Google Shape;108;p16"/>
          <p:cNvSpPr txBox="1"/>
          <p:nvPr/>
        </p:nvSpPr>
        <p:spPr>
          <a:xfrm>
            <a:off x="4876800" y="1168400"/>
            <a:ext cx="35559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8FAFC"/>
                </a:solidFill>
                <a:latin typeface="Roboto"/>
                <a:ea typeface="Roboto"/>
                <a:cs typeface="Roboto"/>
                <a:sym typeface="Roboto"/>
              </a:rPr>
              <a:t>Four-Tier Architectural Pipeline</a:t>
            </a:r>
            <a:endParaRPr b="1" sz="1300">
              <a:solidFill>
                <a:srgbClr val="F8FAFC"/>
              </a:solidFill>
              <a:latin typeface="Roboto"/>
              <a:ea typeface="Roboto"/>
              <a:cs typeface="Roboto"/>
              <a:sym typeface="Roboto"/>
            </a:endParaRPr>
          </a:p>
        </p:txBody>
      </p:sp>
      <p:sp>
        <p:nvSpPr>
          <p:cNvPr id="109" name="Google Shape;109;p16"/>
          <p:cNvSpPr/>
          <p:nvPr/>
        </p:nvSpPr>
        <p:spPr>
          <a:xfrm>
            <a:off x="4876800" y="1549400"/>
            <a:ext cx="3555900" cy="5841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6"/>
          <p:cNvSpPr txBox="1"/>
          <p:nvPr/>
        </p:nvSpPr>
        <p:spPr>
          <a:xfrm>
            <a:off x="4953000" y="1600200"/>
            <a:ext cx="34035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38BDF8"/>
                </a:solidFill>
                <a:latin typeface="Roboto"/>
                <a:ea typeface="Roboto"/>
                <a:cs typeface="Roboto"/>
                <a:sym typeface="Roboto"/>
              </a:rPr>
              <a:t>1. Presentation &amp; Telemetry Layer</a:t>
            </a:r>
            <a:endParaRPr b="1" sz="900">
              <a:solidFill>
                <a:srgbClr val="38BDF8"/>
              </a:solidFill>
              <a:latin typeface="Roboto"/>
              <a:ea typeface="Roboto"/>
              <a:cs typeface="Roboto"/>
              <a:sym typeface="Roboto"/>
            </a:endParaRPr>
          </a:p>
          <a:p>
            <a:pPr indent="0" lvl="0" marL="0" rtl="0" algn="l">
              <a:spcBef>
                <a:spcPts val="0"/>
              </a:spcBef>
              <a:spcAft>
                <a:spcPts val="0"/>
              </a:spcAft>
              <a:buNone/>
            </a:pPr>
            <a:r>
              <a:rPr b="1" lang="en" sz="900">
                <a:solidFill>
                  <a:srgbClr val="38BDF8"/>
                </a:solidFill>
                <a:latin typeface="Roboto"/>
                <a:ea typeface="Roboto"/>
                <a:cs typeface="Roboto"/>
                <a:sym typeface="Roboto"/>
              </a:rPr>
              <a:t>Cytoscape.js Canvas (60 FPS) • Telemetry HUD • EventSource SSE</a:t>
            </a:r>
            <a:endParaRPr b="1" sz="900">
              <a:solidFill>
                <a:srgbClr val="38BDF8"/>
              </a:solidFill>
              <a:latin typeface="Roboto"/>
              <a:ea typeface="Roboto"/>
              <a:cs typeface="Roboto"/>
              <a:sym typeface="Roboto"/>
            </a:endParaRPr>
          </a:p>
        </p:txBody>
      </p:sp>
      <p:sp>
        <p:nvSpPr>
          <p:cNvPr id="111" name="Google Shape;111;p16"/>
          <p:cNvSpPr/>
          <p:nvPr/>
        </p:nvSpPr>
        <p:spPr>
          <a:xfrm>
            <a:off x="4876800" y="2209800"/>
            <a:ext cx="3555900" cy="5841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 name="Google Shape;112;p16"/>
          <p:cNvSpPr txBox="1"/>
          <p:nvPr/>
        </p:nvSpPr>
        <p:spPr>
          <a:xfrm>
            <a:off x="4953000" y="2260600"/>
            <a:ext cx="34035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10B981"/>
                </a:solidFill>
                <a:latin typeface="Roboto"/>
                <a:ea typeface="Roboto"/>
                <a:cs typeface="Roboto"/>
                <a:sym typeface="Roboto"/>
              </a:rPr>
              <a:t>2. API &amp; Orchestration Layer</a:t>
            </a:r>
            <a:endParaRPr b="1" sz="900">
              <a:solidFill>
                <a:srgbClr val="10B981"/>
              </a:solidFill>
              <a:latin typeface="Roboto"/>
              <a:ea typeface="Roboto"/>
              <a:cs typeface="Roboto"/>
              <a:sym typeface="Roboto"/>
            </a:endParaRPr>
          </a:p>
          <a:p>
            <a:pPr indent="0" lvl="0" marL="0" rtl="0" algn="l">
              <a:spcBef>
                <a:spcPts val="0"/>
              </a:spcBef>
              <a:spcAft>
                <a:spcPts val="0"/>
              </a:spcAft>
              <a:buNone/>
            </a:pPr>
            <a:r>
              <a:rPr b="1" lang="en" sz="900">
                <a:solidFill>
                  <a:srgbClr val="10B981"/>
                </a:solidFill>
                <a:latin typeface="Roboto"/>
                <a:ea typeface="Roboto"/>
                <a:cs typeface="Roboto"/>
                <a:sym typeface="Roboto"/>
              </a:rPr>
              <a:t>Flask REST Endpoints • Sub-Graph Projection Filter (mode=paths)</a:t>
            </a:r>
            <a:endParaRPr b="1" sz="900">
              <a:solidFill>
                <a:srgbClr val="10B981"/>
              </a:solidFill>
              <a:latin typeface="Roboto"/>
              <a:ea typeface="Roboto"/>
              <a:cs typeface="Roboto"/>
              <a:sym typeface="Roboto"/>
            </a:endParaRPr>
          </a:p>
        </p:txBody>
      </p:sp>
      <p:sp>
        <p:nvSpPr>
          <p:cNvPr id="113" name="Google Shape;113;p16"/>
          <p:cNvSpPr/>
          <p:nvPr/>
        </p:nvSpPr>
        <p:spPr>
          <a:xfrm>
            <a:off x="4876800" y="2870200"/>
            <a:ext cx="3555900" cy="5841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 name="Google Shape;114;p16"/>
          <p:cNvSpPr txBox="1"/>
          <p:nvPr/>
        </p:nvSpPr>
        <p:spPr>
          <a:xfrm>
            <a:off x="4953000" y="2921000"/>
            <a:ext cx="34035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C084FC"/>
                </a:solidFill>
                <a:latin typeface="Roboto"/>
                <a:ea typeface="Roboto"/>
                <a:cs typeface="Roboto"/>
                <a:sym typeface="Roboto"/>
              </a:rPr>
              <a:t>3. Core Reasoning Engine (NetworkX DiGraph)</a:t>
            </a:r>
            <a:endParaRPr b="1" sz="900">
              <a:solidFill>
                <a:srgbClr val="C084FC"/>
              </a:solidFill>
              <a:latin typeface="Roboto"/>
              <a:ea typeface="Roboto"/>
              <a:cs typeface="Roboto"/>
              <a:sym typeface="Roboto"/>
            </a:endParaRPr>
          </a:p>
          <a:p>
            <a:pPr indent="0" lvl="0" marL="0" rtl="0" algn="l">
              <a:spcBef>
                <a:spcPts val="0"/>
              </a:spcBef>
              <a:spcAft>
                <a:spcPts val="0"/>
              </a:spcAft>
              <a:buNone/>
            </a:pPr>
            <a:r>
              <a:rPr b="1" lang="en" sz="900">
                <a:solidFill>
                  <a:srgbClr val="C084FC"/>
                </a:solidFill>
                <a:latin typeface="Roboto"/>
                <a:ea typeface="Roboto"/>
                <a:cs typeface="Roboto"/>
                <a:sym typeface="Roboto"/>
              </a:rPr>
              <a:t>Dijkstra Pathfinding (W=1/T) • Betweenness Centrality Min-Cut</a:t>
            </a:r>
            <a:endParaRPr b="1" sz="900">
              <a:solidFill>
                <a:srgbClr val="C084FC"/>
              </a:solidFill>
              <a:latin typeface="Roboto"/>
              <a:ea typeface="Roboto"/>
              <a:cs typeface="Roboto"/>
              <a:sym typeface="Roboto"/>
            </a:endParaRPr>
          </a:p>
        </p:txBody>
      </p:sp>
      <p:sp>
        <p:nvSpPr>
          <p:cNvPr id="115" name="Google Shape;115;p16"/>
          <p:cNvSpPr/>
          <p:nvPr/>
        </p:nvSpPr>
        <p:spPr>
          <a:xfrm>
            <a:off x="4876800" y="3530600"/>
            <a:ext cx="3555900" cy="5841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 name="Google Shape;116;p16"/>
          <p:cNvSpPr txBox="1"/>
          <p:nvPr/>
        </p:nvSpPr>
        <p:spPr>
          <a:xfrm>
            <a:off x="4953000" y="3581400"/>
            <a:ext cx="3403500" cy="48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F59E0B"/>
                </a:solidFill>
                <a:latin typeface="Roboto"/>
                <a:ea typeface="Roboto"/>
                <a:cs typeface="Roboto"/>
                <a:sym typeface="Roboto"/>
              </a:rPr>
              <a:t>4. Persistence &amp; Streaming (Docker Cluster)</a:t>
            </a:r>
            <a:endParaRPr b="1" sz="900">
              <a:solidFill>
                <a:srgbClr val="F59E0B"/>
              </a:solidFill>
              <a:latin typeface="Roboto"/>
              <a:ea typeface="Roboto"/>
              <a:cs typeface="Roboto"/>
              <a:sym typeface="Roboto"/>
            </a:endParaRPr>
          </a:p>
          <a:p>
            <a:pPr indent="0" lvl="0" marL="0" rtl="0" algn="l">
              <a:spcBef>
                <a:spcPts val="0"/>
              </a:spcBef>
              <a:spcAft>
                <a:spcPts val="0"/>
              </a:spcAft>
              <a:buNone/>
            </a:pPr>
            <a:r>
              <a:rPr b="1" lang="en" sz="900">
                <a:solidFill>
                  <a:srgbClr val="F59E0B"/>
                </a:solidFill>
                <a:latin typeface="Roboto"/>
                <a:ea typeface="Roboto"/>
                <a:cs typeface="Roboto"/>
                <a:sym typeface="Roboto"/>
              </a:rPr>
              <a:t>Memgraph MAGE (Bolt :7687) • Redpanda Stream (:19092)</a:t>
            </a:r>
            <a:endParaRPr b="1" sz="900">
              <a:solidFill>
                <a:srgbClr val="F59E0B"/>
              </a:solidFill>
              <a:latin typeface="Roboto"/>
              <a:ea typeface="Roboto"/>
              <a:cs typeface="Roboto"/>
              <a:sym typeface="Roboto"/>
            </a:endParaRPr>
          </a:p>
        </p:txBody>
      </p:sp>
      <p:sp>
        <p:nvSpPr>
          <p:cNvPr id="117" name="Google Shape;117;p16"/>
          <p:cNvSpPr txBox="1"/>
          <p:nvPr/>
        </p:nvSpPr>
        <p:spPr>
          <a:xfrm>
            <a:off x="4876800" y="4241800"/>
            <a:ext cx="3555900" cy="45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850">
                <a:solidFill>
                  <a:srgbClr val="94A3B8"/>
                </a:solidFill>
                <a:latin typeface="Roboto"/>
                <a:ea typeface="Roboto"/>
                <a:cs typeface="Roboto"/>
                <a:sym typeface="Roboto"/>
              </a:rPr>
              <a:t>⚡ Asynchronous Batch Invariant: Daemon worker pipes Cypher in background (&lt;100ms)</a:t>
            </a:r>
            <a:endParaRPr sz="850">
              <a:solidFill>
                <a:srgbClr val="94A3B8"/>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21" name="Shape 121"/>
        <p:cNvGrpSpPr/>
        <p:nvPr/>
      </p:nvGrpSpPr>
      <p:grpSpPr>
        <a:xfrm>
          <a:off x="0" y="0"/>
          <a:ext cx="0" cy="0"/>
          <a:chOff x="0" y="0"/>
          <a:chExt cx="0" cy="0"/>
        </a:xfrm>
      </p:grpSpPr>
      <p:sp>
        <p:nvSpPr>
          <p:cNvPr id="122" name="Google Shape;122;p17"/>
          <p:cNvSpPr/>
          <p:nvPr/>
        </p:nvSpPr>
        <p:spPr>
          <a:xfrm>
            <a:off x="546100" y="228600"/>
            <a:ext cx="2159100" cy="2541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3" name="Google Shape;123;p17"/>
          <p:cNvSpPr txBox="1"/>
          <p:nvPr/>
        </p:nvSpPr>
        <p:spPr>
          <a:xfrm>
            <a:off x="546100" y="228600"/>
            <a:ext cx="2159100" cy="2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50">
                <a:solidFill>
                  <a:srgbClr val="38BDF8"/>
                </a:solidFill>
                <a:latin typeface="Roboto"/>
                <a:ea typeface="Roboto"/>
                <a:cs typeface="Roboto"/>
                <a:sym typeface="Roboto"/>
              </a:rPr>
              <a:t>OPERATIONAL LIFECYCLE</a:t>
            </a:r>
            <a:endParaRPr b="1" sz="850">
              <a:solidFill>
                <a:srgbClr val="38BDF8"/>
              </a:solidFill>
              <a:latin typeface="Roboto"/>
              <a:ea typeface="Roboto"/>
              <a:cs typeface="Roboto"/>
              <a:sym typeface="Roboto"/>
            </a:endParaRPr>
          </a:p>
        </p:txBody>
      </p:sp>
      <p:sp>
        <p:nvSpPr>
          <p:cNvPr id="124" name="Google Shape;124;p17"/>
          <p:cNvSpPr txBox="1"/>
          <p:nvPr/>
        </p:nvSpPr>
        <p:spPr>
          <a:xfrm>
            <a:off x="546100" y="533400"/>
            <a:ext cx="8051700" cy="43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F8FAFC"/>
                </a:solidFill>
                <a:latin typeface="Roboto"/>
                <a:ea typeface="Roboto"/>
                <a:cs typeface="Roboto"/>
                <a:sym typeface="Roboto"/>
              </a:rPr>
              <a:t>System Workflow &amp; Attack Path Traversal Lifecycle</a:t>
            </a:r>
            <a:endParaRPr b="1" sz="1800">
              <a:solidFill>
                <a:srgbClr val="F8FAFC"/>
              </a:solidFill>
              <a:latin typeface="Roboto"/>
              <a:ea typeface="Roboto"/>
              <a:cs typeface="Roboto"/>
              <a:sym typeface="Roboto"/>
            </a:endParaRPr>
          </a:p>
        </p:txBody>
      </p:sp>
      <p:sp>
        <p:nvSpPr>
          <p:cNvPr id="125" name="Google Shape;125;p17"/>
          <p:cNvSpPr/>
          <p:nvPr/>
        </p:nvSpPr>
        <p:spPr>
          <a:xfrm>
            <a:off x="546100" y="1041400"/>
            <a:ext cx="44451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17"/>
          <p:cNvSpPr txBox="1"/>
          <p:nvPr/>
        </p:nvSpPr>
        <p:spPr>
          <a:xfrm>
            <a:off x="698500" y="1168400"/>
            <a:ext cx="41403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8FAFC"/>
                </a:solidFill>
                <a:latin typeface="Roboto"/>
                <a:ea typeface="Roboto"/>
                <a:cs typeface="Roboto"/>
                <a:sym typeface="Roboto"/>
              </a:rPr>
              <a:t>End-to-End Incident Traversal Workflow</a:t>
            </a:r>
            <a:endParaRPr b="1" sz="1300">
              <a:solidFill>
                <a:srgbClr val="F8FAFC"/>
              </a:solidFill>
              <a:latin typeface="Roboto"/>
              <a:ea typeface="Roboto"/>
              <a:cs typeface="Roboto"/>
              <a:sym typeface="Roboto"/>
            </a:endParaRPr>
          </a:p>
        </p:txBody>
      </p:sp>
      <p:sp>
        <p:nvSpPr>
          <p:cNvPr id="127" name="Google Shape;127;p17"/>
          <p:cNvSpPr txBox="1"/>
          <p:nvPr/>
        </p:nvSpPr>
        <p:spPr>
          <a:xfrm>
            <a:off x="698500" y="1524000"/>
            <a:ext cx="4140300" cy="3174900"/>
          </a:xfrm>
          <a:prstGeom prst="rect">
            <a:avLst/>
          </a:prstGeom>
          <a:noFill/>
          <a:ln>
            <a:noFill/>
          </a:ln>
        </p:spPr>
        <p:txBody>
          <a:bodyPr anchorCtr="0" anchor="t" bIns="91425" lIns="91425" spcFirstLastPara="1" rIns="91425" wrap="square" tIns="91425">
            <a:noAutofit/>
          </a:bodyPr>
          <a:lstStyle/>
          <a:p>
            <a:pPr indent="0" lvl="0" marL="0" rtl="0" algn="l">
              <a:lnSpc>
                <a:spcPct val="128000"/>
              </a:lnSpc>
              <a:spcBef>
                <a:spcPts val="0"/>
              </a:spcBef>
              <a:spcAft>
                <a:spcPts val="0"/>
              </a:spcAft>
              <a:buNone/>
            </a:pPr>
            <a:r>
              <a:rPr lang="en" sz="950">
                <a:solidFill>
                  <a:srgbClr val="94A3B8"/>
                </a:solidFill>
                <a:latin typeface="Roboto"/>
                <a:ea typeface="Roboto"/>
                <a:cs typeface="Roboto"/>
                <a:sym typeface="Roboto"/>
              </a:rPr>
              <a:t>1. Multi-Cloud Ingestion: Operator connects AWS or imports Active Directory collection.</a:t>
            </a:r>
            <a:endParaRPr sz="950">
              <a:solidFill>
                <a:srgbClr val="94A3B8"/>
              </a:solidFill>
              <a:latin typeface="Roboto"/>
              <a:ea typeface="Roboto"/>
              <a:cs typeface="Roboto"/>
              <a:sym typeface="Roboto"/>
            </a:endParaRPr>
          </a:p>
          <a:p>
            <a:pPr indent="0" lvl="0" marL="0" rtl="0" algn="l">
              <a:lnSpc>
                <a:spcPct val="128000"/>
              </a:lnSpc>
              <a:spcBef>
                <a:spcPts val="0"/>
              </a:spcBef>
              <a:spcAft>
                <a:spcPts val="0"/>
              </a:spcAft>
              <a:buNone/>
            </a:pPr>
            <a:r>
              <a:rPr lang="en" sz="950">
                <a:solidFill>
                  <a:srgbClr val="94A3B8"/>
                </a:solidFill>
                <a:latin typeface="Roboto"/>
                <a:ea typeface="Roboto"/>
                <a:cs typeface="Roboto"/>
                <a:sym typeface="Roboto"/>
              </a:rPr>
              <a:t>2. Threat Intelligence Enrichment: Engine queries EPSS and CISA KEV to compute edge friction.</a:t>
            </a:r>
            <a:endParaRPr sz="950">
              <a:solidFill>
                <a:srgbClr val="94A3B8"/>
              </a:solidFill>
              <a:latin typeface="Roboto"/>
              <a:ea typeface="Roboto"/>
              <a:cs typeface="Roboto"/>
              <a:sym typeface="Roboto"/>
            </a:endParaRPr>
          </a:p>
          <a:p>
            <a:pPr indent="0" lvl="0" marL="0" rtl="0" algn="l">
              <a:lnSpc>
                <a:spcPct val="128000"/>
              </a:lnSpc>
              <a:spcBef>
                <a:spcPts val="0"/>
              </a:spcBef>
              <a:spcAft>
                <a:spcPts val="0"/>
              </a:spcAft>
              <a:buNone/>
            </a:pPr>
            <a:r>
              <a:rPr lang="en" sz="950">
                <a:solidFill>
                  <a:srgbClr val="94A3B8"/>
                </a:solidFill>
                <a:latin typeface="Roboto"/>
                <a:ea typeface="Roboto"/>
                <a:cs typeface="Roboto"/>
                <a:sym typeface="Roboto"/>
              </a:rPr>
              <a:t>3. Dijkstra Path Evaluation: Dynamic shortest paths calculated from Perimeter to Crown Jewels.</a:t>
            </a:r>
            <a:endParaRPr sz="950">
              <a:solidFill>
                <a:srgbClr val="94A3B8"/>
              </a:solidFill>
              <a:latin typeface="Roboto"/>
              <a:ea typeface="Roboto"/>
              <a:cs typeface="Roboto"/>
              <a:sym typeface="Roboto"/>
            </a:endParaRPr>
          </a:p>
          <a:p>
            <a:pPr indent="0" lvl="0" marL="0" rtl="0" algn="l">
              <a:lnSpc>
                <a:spcPct val="128000"/>
              </a:lnSpc>
              <a:spcBef>
                <a:spcPts val="0"/>
              </a:spcBef>
              <a:spcAft>
                <a:spcPts val="0"/>
              </a:spcAft>
              <a:buNone/>
            </a:pPr>
            <a:r>
              <a:rPr lang="en" sz="950">
                <a:solidFill>
                  <a:srgbClr val="94A3B8"/>
                </a:solidFill>
                <a:latin typeface="Roboto"/>
                <a:ea typeface="Roboto"/>
                <a:cs typeface="Roboto"/>
                <a:sym typeface="Roboto"/>
              </a:rPr>
              <a:t>4. Choke Point Identification: Engine ranks cut-vertices using Betweenness Centrality.</a:t>
            </a:r>
            <a:endParaRPr sz="950">
              <a:solidFill>
                <a:srgbClr val="94A3B8"/>
              </a:solidFill>
              <a:latin typeface="Roboto"/>
              <a:ea typeface="Roboto"/>
              <a:cs typeface="Roboto"/>
              <a:sym typeface="Roboto"/>
            </a:endParaRPr>
          </a:p>
          <a:p>
            <a:pPr indent="0" lvl="0" marL="0" rtl="0" algn="l">
              <a:lnSpc>
                <a:spcPct val="128000"/>
              </a:lnSpc>
              <a:spcBef>
                <a:spcPts val="0"/>
              </a:spcBef>
              <a:spcAft>
                <a:spcPts val="0"/>
              </a:spcAft>
              <a:buNone/>
            </a:pPr>
            <a:r>
              <a:rPr lang="en" sz="950">
                <a:solidFill>
                  <a:srgbClr val="94A3B8"/>
                </a:solidFill>
                <a:latin typeface="Roboto"/>
                <a:ea typeface="Roboto"/>
                <a:cs typeface="Roboto"/>
                <a:sym typeface="Roboto"/>
              </a:rPr>
              <a:t>5. Live EDR Telemetry Stream: External alert webhook fires; edge friction drops to near-zero (W -&gt; 1.01).</a:t>
            </a:r>
            <a:endParaRPr sz="950">
              <a:solidFill>
                <a:srgbClr val="94A3B8"/>
              </a:solidFill>
              <a:latin typeface="Roboto"/>
              <a:ea typeface="Roboto"/>
              <a:cs typeface="Roboto"/>
              <a:sym typeface="Roboto"/>
            </a:endParaRPr>
          </a:p>
          <a:p>
            <a:pPr indent="0" lvl="0" marL="0" rtl="0" algn="l">
              <a:lnSpc>
                <a:spcPct val="128000"/>
              </a:lnSpc>
              <a:spcBef>
                <a:spcPts val="0"/>
              </a:spcBef>
              <a:spcAft>
                <a:spcPts val="0"/>
              </a:spcAft>
              <a:buNone/>
            </a:pPr>
            <a:r>
              <a:rPr lang="en" sz="950">
                <a:solidFill>
                  <a:srgbClr val="94A3B8"/>
                </a:solidFill>
                <a:latin typeface="Roboto"/>
                <a:ea typeface="Roboto"/>
                <a:cs typeface="Roboto"/>
                <a:sym typeface="Roboto"/>
              </a:rPr>
              <a:t>6. Real-Time Path Recalibration: Critical path automatically reroutes through breached asset; SSE alerts browser.</a:t>
            </a:r>
            <a:endParaRPr sz="950">
              <a:solidFill>
                <a:srgbClr val="94A3B8"/>
              </a:solidFill>
              <a:latin typeface="Roboto"/>
              <a:ea typeface="Roboto"/>
              <a:cs typeface="Roboto"/>
              <a:sym typeface="Roboto"/>
            </a:endParaRPr>
          </a:p>
          <a:p>
            <a:pPr indent="0" lvl="0" marL="0" rtl="0" algn="l">
              <a:lnSpc>
                <a:spcPct val="128000"/>
              </a:lnSpc>
              <a:spcBef>
                <a:spcPts val="0"/>
              </a:spcBef>
              <a:spcAft>
                <a:spcPts val="0"/>
              </a:spcAft>
              <a:buNone/>
            </a:pPr>
            <a:r>
              <a:rPr lang="en" sz="950">
                <a:solidFill>
                  <a:srgbClr val="94A3B8"/>
                </a:solidFill>
                <a:latin typeface="Roboto"/>
                <a:ea typeface="Roboto"/>
                <a:cs typeface="Roboto"/>
                <a:sym typeface="Roboto"/>
              </a:rPr>
              <a:t>7. 'What-If' Remediation: Operator simulates choke point severance, confirming risk reduction percentage.</a:t>
            </a:r>
            <a:endParaRPr sz="950">
              <a:solidFill>
                <a:srgbClr val="94A3B8"/>
              </a:solidFill>
              <a:latin typeface="Roboto"/>
              <a:ea typeface="Roboto"/>
              <a:cs typeface="Roboto"/>
              <a:sym typeface="Roboto"/>
            </a:endParaRPr>
          </a:p>
        </p:txBody>
      </p:sp>
      <p:sp>
        <p:nvSpPr>
          <p:cNvPr id="128" name="Google Shape;128;p17"/>
          <p:cNvSpPr/>
          <p:nvPr/>
        </p:nvSpPr>
        <p:spPr>
          <a:xfrm>
            <a:off x="5143500" y="1041400"/>
            <a:ext cx="34545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7"/>
          <p:cNvSpPr txBox="1"/>
          <p:nvPr/>
        </p:nvSpPr>
        <p:spPr>
          <a:xfrm>
            <a:off x="5295900" y="1168400"/>
            <a:ext cx="31497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8FAFC"/>
                </a:solidFill>
                <a:latin typeface="Roboto"/>
                <a:ea typeface="Roboto"/>
                <a:cs typeface="Roboto"/>
                <a:sym typeface="Roboto"/>
              </a:rPr>
              <a:t>Attack Traversal Lifecycle</a:t>
            </a:r>
            <a:endParaRPr b="1" sz="1300">
              <a:solidFill>
                <a:srgbClr val="F8FAFC"/>
              </a:solidFill>
              <a:latin typeface="Roboto"/>
              <a:ea typeface="Roboto"/>
              <a:cs typeface="Roboto"/>
              <a:sym typeface="Roboto"/>
            </a:endParaRPr>
          </a:p>
        </p:txBody>
      </p:sp>
      <p:sp>
        <p:nvSpPr>
          <p:cNvPr id="130" name="Google Shape;130;p17"/>
          <p:cNvSpPr/>
          <p:nvPr/>
        </p:nvSpPr>
        <p:spPr>
          <a:xfrm>
            <a:off x="5295900" y="1549400"/>
            <a:ext cx="3149700" cy="4572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1" name="Google Shape;131;p17"/>
          <p:cNvSpPr txBox="1"/>
          <p:nvPr/>
        </p:nvSpPr>
        <p:spPr>
          <a:xfrm>
            <a:off x="5359400" y="1600200"/>
            <a:ext cx="30225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50">
                <a:solidFill>
                  <a:srgbClr val="38BDF8"/>
                </a:solidFill>
                <a:latin typeface="Roboto"/>
                <a:ea typeface="Roboto"/>
                <a:cs typeface="Roboto"/>
                <a:sym typeface="Roboto"/>
              </a:rPr>
              <a:t>PERIMETER: Public Web / EC2 ingress (Port 80/443)</a:t>
            </a:r>
            <a:endParaRPr b="1" sz="850">
              <a:solidFill>
                <a:srgbClr val="38BDF8"/>
              </a:solidFill>
              <a:latin typeface="Roboto"/>
              <a:ea typeface="Roboto"/>
              <a:cs typeface="Roboto"/>
              <a:sym typeface="Roboto"/>
            </a:endParaRPr>
          </a:p>
        </p:txBody>
      </p:sp>
      <p:sp>
        <p:nvSpPr>
          <p:cNvPr id="132" name="Google Shape;132;p17"/>
          <p:cNvSpPr/>
          <p:nvPr/>
        </p:nvSpPr>
        <p:spPr>
          <a:xfrm>
            <a:off x="5295900" y="2082800"/>
            <a:ext cx="3149700" cy="4572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7"/>
          <p:cNvSpPr txBox="1"/>
          <p:nvPr/>
        </p:nvSpPr>
        <p:spPr>
          <a:xfrm>
            <a:off x="5359400" y="2133600"/>
            <a:ext cx="30225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50">
                <a:solidFill>
                  <a:srgbClr val="C084FC"/>
                </a:solidFill>
                <a:latin typeface="Roboto"/>
                <a:ea typeface="Roboto"/>
                <a:cs typeface="Roboto"/>
                <a:sym typeface="Roboto"/>
              </a:rPr>
              <a:t>LATERAL_MOVEMENT: Pivot via IAM Role or SG rule</a:t>
            </a:r>
            <a:endParaRPr b="1" sz="850">
              <a:solidFill>
                <a:srgbClr val="C084FC"/>
              </a:solidFill>
              <a:latin typeface="Roboto"/>
              <a:ea typeface="Roboto"/>
              <a:cs typeface="Roboto"/>
              <a:sym typeface="Roboto"/>
            </a:endParaRPr>
          </a:p>
        </p:txBody>
      </p:sp>
      <p:sp>
        <p:nvSpPr>
          <p:cNvPr id="134" name="Google Shape;134;p17"/>
          <p:cNvSpPr/>
          <p:nvPr/>
        </p:nvSpPr>
        <p:spPr>
          <a:xfrm>
            <a:off x="5295900" y="2616200"/>
            <a:ext cx="3149700" cy="4572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7"/>
          <p:cNvSpPr txBox="1"/>
          <p:nvPr/>
        </p:nvSpPr>
        <p:spPr>
          <a:xfrm>
            <a:off x="5359400" y="2667000"/>
            <a:ext cx="30225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50">
                <a:solidFill>
                  <a:srgbClr val="F59E0B"/>
                </a:solidFill>
                <a:latin typeface="Roboto"/>
                <a:ea typeface="Roboto"/>
                <a:cs typeface="Roboto"/>
                <a:sym typeface="Roboto"/>
              </a:rPr>
              <a:t>PRIVILEGE_ESCALATION: GenericAll / WriteDacl / DCSync</a:t>
            </a:r>
            <a:endParaRPr b="1" sz="850">
              <a:solidFill>
                <a:srgbClr val="F59E0B"/>
              </a:solidFill>
              <a:latin typeface="Roboto"/>
              <a:ea typeface="Roboto"/>
              <a:cs typeface="Roboto"/>
              <a:sym typeface="Roboto"/>
            </a:endParaRPr>
          </a:p>
        </p:txBody>
      </p:sp>
      <p:sp>
        <p:nvSpPr>
          <p:cNvPr id="136" name="Google Shape;136;p17"/>
          <p:cNvSpPr/>
          <p:nvPr/>
        </p:nvSpPr>
        <p:spPr>
          <a:xfrm>
            <a:off x="5295900" y="3149600"/>
            <a:ext cx="3149700" cy="4572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17"/>
          <p:cNvSpPr txBox="1"/>
          <p:nvPr/>
        </p:nvSpPr>
        <p:spPr>
          <a:xfrm>
            <a:off x="5359400" y="3200400"/>
            <a:ext cx="3022500" cy="35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50">
                <a:solidFill>
                  <a:srgbClr val="F43F5E"/>
                </a:solidFill>
                <a:latin typeface="Roboto"/>
                <a:ea typeface="Roboto"/>
                <a:cs typeface="Roboto"/>
                <a:sym typeface="Roboto"/>
              </a:rPr>
              <a:t>TIER_0_COMPROMISE: Domain Controller takeover (DC01)</a:t>
            </a:r>
            <a:endParaRPr b="1" sz="850">
              <a:solidFill>
                <a:srgbClr val="F43F5E"/>
              </a:solidFill>
              <a:latin typeface="Roboto"/>
              <a:ea typeface="Roboto"/>
              <a:cs typeface="Roboto"/>
              <a:sym typeface="Roboto"/>
            </a:endParaRPr>
          </a:p>
        </p:txBody>
      </p:sp>
      <p:sp>
        <p:nvSpPr>
          <p:cNvPr id="138" name="Google Shape;138;p17"/>
          <p:cNvSpPr/>
          <p:nvPr/>
        </p:nvSpPr>
        <p:spPr>
          <a:xfrm>
            <a:off x="5295900" y="3708400"/>
            <a:ext cx="3149700" cy="9906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 name="Google Shape;139;p17"/>
          <p:cNvSpPr txBox="1"/>
          <p:nvPr/>
        </p:nvSpPr>
        <p:spPr>
          <a:xfrm>
            <a:off x="5359400" y="3759200"/>
            <a:ext cx="3022500" cy="888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850">
                <a:solidFill>
                  <a:srgbClr val="94A3B8"/>
                </a:solidFill>
                <a:latin typeface="Roboto"/>
                <a:ea typeface="Roboto"/>
                <a:cs typeface="Roboto"/>
                <a:sym typeface="Roboto"/>
              </a:rPr>
              <a:t>Dynamic Telemetry Collapse Rule:</a:t>
            </a:r>
            <a:endParaRPr sz="850">
              <a:solidFill>
                <a:srgbClr val="94A3B8"/>
              </a:solidFill>
              <a:latin typeface="Roboto"/>
              <a:ea typeface="Roboto"/>
              <a:cs typeface="Roboto"/>
              <a:sym typeface="Roboto"/>
            </a:endParaRPr>
          </a:p>
          <a:p>
            <a:pPr indent="0" lvl="0" marL="0" rtl="0" algn="l">
              <a:lnSpc>
                <a:spcPct val="115000"/>
              </a:lnSpc>
              <a:spcBef>
                <a:spcPts val="0"/>
              </a:spcBef>
              <a:spcAft>
                <a:spcPts val="0"/>
              </a:spcAft>
              <a:buNone/>
            </a:pPr>
            <a:r>
              <a:rPr lang="en" sz="850">
                <a:solidFill>
                  <a:srgbClr val="94A3B8"/>
                </a:solidFill>
                <a:latin typeface="Roboto"/>
                <a:ea typeface="Roboto"/>
                <a:cs typeface="Roboto"/>
                <a:sym typeface="Roboto"/>
              </a:rPr>
              <a:t>When EDR detects credential theft on asset (u), its incoming/outgoing traversability surges to 0.99. Dijkstra instantly pulls the primary breach trajectory through the breached host.</a:t>
            </a:r>
            <a:endParaRPr sz="850">
              <a:solidFill>
                <a:srgbClr val="94A3B8"/>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43" name="Shape 143"/>
        <p:cNvGrpSpPr/>
        <p:nvPr/>
      </p:nvGrpSpPr>
      <p:grpSpPr>
        <a:xfrm>
          <a:off x="0" y="0"/>
          <a:ext cx="0" cy="0"/>
          <a:chOff x="0" y="0"/>
          <a:chExt cx="0" cy="0"/>
        </a:xfrm>
      </p:grpSpPr>
      <p:sp>
        <p:nvSpPr>
          <p:cNvPr id="144" name="Google Shape;144;p18"/>
          <p:cNvSpPr/>
          <p:nvPr/>
        </p:nvSpPr>
        <p:spPr>
          <a:xfrm>
            <a:off x="546100" y="228600"/>
            <a:ext cx="2159100" cy="2541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8"/>
          <p:cNvSpPr txBox="1"/>
          <p:nvPr/>
        </p:nvSpPr>
        <p:spPr>
          <a:xfrm>
            <a:off x="546100" y="228600"/>
            <a:ext cx="2159100" cy="2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50">
                <a:solidFill>
                  <a:srgbClr val="38BDF8"/>
                </a:solidFill>
                <a:latin typeface="Roboto"/>
                <a:ea typeface="Roboto"/>
                <a:cs typeface="Roboto"/>
                <a:sym typeface="Roboto"/>
              </a:rPr>
              <a:t>LIVE DEMONSTRATION</a:t>
            </a:r>
            <a:endParaRPr b="1" sz="850">
              <a:solidFill>
                <a:srgbClr val="38BDF8"/>
              </a:solidFill>
              <a:latin typeface="Roboto"/>
              <a:ea typeface="Roboto"/>
              <a:cs typeface="Roboto"/>
              <a:sym typeface="Roboto"/>
            </a:endParaRPr>
          </a:p>
        </p:txBody>
      </p:sp>
      <p:sp>
        <p:nvSpPr>
          <p:cNvPr id="146" name="Google Shape;146;p18"/>
          <p:cNvSpPr txBox="1"/>
          <p:nvPr/>
        </p:nvSpPr>
        <p:spPr>
          <a:xfrm>
            <a:off x="546100" y="533400"/>
            <a:ext cx="8051700" cy="43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F8FAFC"/>
                </a:solidFill>
                <a:latin typeface="Roboto"/>
                <a:ea typeface="Roboto"/>
                <a:cs typeface="Roboto"/>
                <a:sym typeface="Roboto"/>
              </a:rPr>
              <a:t>Project Demonstration: Ingestion Hub and Telemetry Canvas</a:t>
            </a:r>
            <a:endParaRPr b="1" sz="1800">
              <a:solidFill>
                <a:srgbClr val="F8FAFC"/>
              </a:solidFill>
              <a:latin typeface="Roboto"/>
              <a:ea typeface="Roboto"/>
              <a:cs typeface="Roboto"/>
              <a:sym typeface="Roboto"/>
            </a:endParaRPr>
          </a:p>
        </p:txBody>
      </p:sp>
      <p:sp>
        <p:nvSpPr>
          <p:cNvPr id="147" name="Google Shape;147;p18"/>
          <p:cNvSpPr/>
          <p:nvPr/>
        </p:nvSpPr>
        <p:spPr>
          <a:xfrm>
            <a:off x="546100" y="1041400"/>
            <a:ext cx="3873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 name="Google Shape;148;p18"/>
          <p:cNvSpPr txBox="1"/>
          <p:nvPr/>
        </p:nvSpPr>
        <p:spPr>
          <a:xfrm>
            <a:off x="698500" y="1168400"/>
            <a:ext cx="3555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38BDF8"/>
                </a:solidFill>
                <a:latin typeface="Roboto"/>
                <a:ea typeface="Roboto"/>
                <a:cs typeface="Roboto"/>
                <a:sym typeface="Roboto"/>
              </a:rPr>
              <a:t>Screenshot 1: Multi-Domain Ingestion Hub</a:t>
            </a:r>
            <a:endParaRPr b="1" sz="1200">
              <a:solidFill>
                <a:srgbClr val="38BDF8"/>
              </a:solidFill>
              <a:latin typeface="Roboto"/>
              <a:ea typeface="Roboto"/>
              <a:cs typeface="Roboto"/>
              <a:sym typeface="Roboto"/>
            </a:endParaRPr>
          </a:p>
        </p:txBody>
      </p:sp>
      <p:sp>
        <p:nvSpPr>
          <p:cNvPr id="149" name="Google Shape;149;p18"/>
          <p:cNvSpPr txBox="1"/>
          <p:nvPr/>
        </p:nvSpPr>
        <p:spPr>
          <a:xfrm>
            <a:off x="698500" y="3403600"/>
            <a:ext cx="3555900" cy="1333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Authentication &amp; Ingestion Specifications:</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AWS Cloud Discovery: Connects via STS/IAM session credentials.</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BloodHound AD Tab: Ingests authentic SharpHound JSON collections.</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Vulnerability Enrichment: Attaches CVEs with live EPSS/KEV lookup.</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Zero-Mock Policy: All nodes originate from real infrastructure APIs.</a:t>
            </a:r>
            <a:endParaRPr sz="950">
              <a:solidFill>
                <a:srgbClr val="94A3B8"/>
              </a:solidFill>
              <a:latin typeface="Roboto"/>
              <a:ea typeface="Roboto"/>
              <a:cs typeface="Roboto"/>
              <a:sym typeface="Roboto"/>
            </a:endParaRPr>
          </a:p>
        </p:txBody>
      </p:sp>
      <p:sp>
        <p:nvSpPr>
          <p:cNvPr id="150" name="Google Shape;150;p18"/>
          <p:cNvSpPr/>
          <p:nvPr/>
        </p:nvSpPr>
        <p:spPr>
          <a:xfrm>
            <a:off x="4724400" y="1041400"/>
            <a:ext cx="3873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8"/>
          <p:cNvSpPr txBox="1"/>
          <p:nvPr/>
        </p:nvSpPr>
        <p:spPr>
          <a:xfrm>
            <a:off x="4876800" y="1168400"/>
            <a:ext cx="35559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10B981"/>
                </a:solidFill>
                <a:latin typeface="Roboto"/>
                <a:ea typeface="Roboto"/>
                <a:cs typeface="Roboto"/>
                <a:sym typeface="Roboto"/>
              </a:rPr>
              <a:t>Screenshot 2: Telemetry HUD &amp; Canvas</a:t>
            </a:r>
            <a:endParaRPr b="1" sz="1200">
              <a:solidFill>
                <a:srgbClr val="10B981"/>
              </a:solidFill>
              <a:latin typeface="Roboto"/>
              <a:ea typeface="Roboto"/>
              <a:cs typeface="Roboto"/>
              <a:sym typeface="Roboto"/>
            </a:endParaRPr>
          </a:p>
        </p:txBody>
      </p:sp>
      <p:sp>
        <p:nvSpPr>
          <p:cNvPr id="152" name="Google Shape;152;p18"/>
          <p:cNvSpPr txBox="1"/>
          <p:nvPr/>
        </p:nvSpPr>
        <p:spPr>
          <a:xfrm>
            <a:off x="4876800" y="3403600"/>
            <a:ext cx="3555900" cy="1333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Hardware-Accelerated Cytoscape Canvas:</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Real-Time Telemetry HUD: Tracks assets, Crown Jewels, and breach risk.</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Dot-Grid Canvas: GPU texture buffering maintains 60 FPS under pan/zoom.</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Sub-Graph Projection: 485 nodes / 1,459 edges filtered to active paths.</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Interactive Inspector: Shows live node metadata and EPSS probability meter.</a:t>
            </a:r>
            <a:endParaRPr sz="950">
              <a:solidFill>
                <a:srgbClr val="94A3B8"/>
              </a:solidFill>
              <a:latin typeface="Roboto"/>
              <a:ea typeface="Roboto"/>
              <a:cs typeface="Roboto"/>
              <a:sym typeface="Roboto"/>
            </a:endParaRPr>
          </a:p>
        </p:txBody>
      </p:sp>
      <p:pic>
        <p:nvPicPr>
          <p:cNvPr id="153" name="Google Shape;153;p18"/>
          <p:cNvPicPr preferRelativeResize="0"/>
          <p:nvPr/>
        </p:nvPicPr>
        <p:blipFill>
          <a:blip r:embed="rId3">
            <a:alphaModFix/>
          </a:blip>
          <a:stretch>
            <a:fillRect/>
          </a:stretch>
        </p:blipFill>
        <p:spPr>
          <a:xfrm>
            <a:off x="698500" y="1620573"/>
            <a:ext cx="3555998" cy="1559453"/>
          </a:xfrm>
          <a:prstGeom prst="rect">
            <a:avLst/>
          </a:prstGeom>
          <a:noFill/>
          <a:ln>
            <a:noFill/>
          </a:ln>
        </p:spPr>
      </p:pic>
      <p:pic>
        <p:nvPicPr>
          <p:cNvPr id="154" name="Google Shape;154;p18"/>
          <p:cNvPicPr preferRelativeResize="0"/>
          <p:nvPr/>
        </p:nvPicPr>
        <p:blipFill>
          <a:blip r:embed="rId4">
            <a:alphaModFix/>
          </a:blip>
          <a:stretch>
            <a:fillRect/>
          </a:stretch>
        </p:blipFill>
        <p:spPr>
          <a:xfrm>
            <a:off x="4876800" y="1620573"/>
            <a:ext cx="3555998" cy="155945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8" name="Shape 158"/>
        <p:cNvGrpSpPr/>
        <p:nvPr/>
      </p:nvGrpSpPr>
      <p:grpSpPr>
        <a:xfrm>
          <a:off x="0" y="0"/>
          <a:ext cx="0" cy="0"/>
          <a:chOff x="0" y="0"/>
          <a:chExt cx="0" cy="0"/>
        </a:xfrm>
      </p:grpSpPr>
      <p:sp>
        <p:nvSpPr>
          <p:cNvPr id="159" name="Google Shape;159;p19"/>
          <p:cNvSpPr/>
          <p:nvPr/>
        </p:nvSpPr>
        <p:spPr>
          <a:xfrm>
            <a:off x="546100" y="228600"/>
            <a:ext cx="2159100" cy="2541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19"/>
          <p:cNvSpPr txBox="1"/>
          <p:nvPr/>
        </p:nvSpPr>
        <p:spPr>
          <a:xfrm>
            <a:off x="546100" y="228600"/>
            <a:ext cx="2159100" cy="2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50">
                <a:solidFill>
                  <a:srgbClr val="38BDF8"/>
                </a:solidFill>
                <a:latin typeface="Roboto"/>
                <a:ea typeface="Roboto"/>
                <a:cs typeface="Roboto"/>
                <a:sym typeface="Roboto"/>
              </a:rPr>
              <a:t>ALGORITHMIC REMEDIATION</a:t>
            </a:r>
            <a:endParaRPr b="1" sz="850">
              <a:solidFill>
                <a:srgbClr val="38BDF8"/>
              </a:solidFill>
              <a:latin typeface="Roboto"/>
              <a:ea typeface="Roboto"/>
              <a:cs typeface="Roboto"/>
              <a:sym typeface="Roboto"/>
            </a:endParaRPr>
          </a:p>
        </p:txBody>
      </p:sp>
      <p:sp>
        <p:nvSpPr>
          <p:cNvPr id="161" name="Google Shape;161;p19"/>
          <p:cNvSpPr txBox="1"/>
          <p:nvPr/>
        </p:nvSpPr>
        <p:spPr>
          <a:xfrm>
            <a:off x="546100" y="533400"/>
            <a:ext cx="8051700" cy="43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F8FAFC"/>
                </a:solidFill>
                <a:latin typeface="Roboto"/>
                <a:ea typeface="Roboto"/>
                <a:cs typeface="Roboto"/>
                <a:sym typeface="Roboto"/>
              </a:rPr>
              <a:t>Project Demonstration: Critical Path Tracing &amp; What-If Remediation</a:t>
            </a:r>
            <a:endParaRPr b="1" sz="1800">
              <a:solidFill>
                <a:srgbClr val="F8FAFC"/>
              </a:solidFill>
              <a:latin typeface="Roboto"/>
              <a:ea typeface="Roboto"/>
              <a:cs typeface="Roboto"/>
              <a:sym typeface="Roboto"/>
            </a:endParaRPr>
          </a:p>
        </p:txBody>
      </p:sp>
      <p:sp>
        <p:nvSpPr>
          <p:cNvPr id="162" name="Google Shape;162;p19"/>
          <p:cNvSpPr/>
          <p:nvPr/>
        </p:nvSpPr>
        <p:spPr>
          <a:xfrm>
            <a:off x="546100" y="1041400"/>
            <a:ext cx="44451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3" name="Google Shape;163;p19"/>
          <p:cNvSpPr txBox="1"/>
          <p:nvPr/>
        </p:nvSpPr>
        <p:spPr>
          <a:xfrm>
            <a:off x="698500" y="1168400"/>
            <a:ext cx="41403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F43F5E"/>
                </a:solidFill>
                <a:latin typeface="Roboto"/>
                <a:ea typeface="Roboto"/>
                <a:cs typeface="Roboto"/>
                <a:sym typeface="Roboto"/>
              </a:rPr>
              <a:t>Screenshot 3: Critical Breach Path Highlight</a:t>
            </a:r>
            <a:endParaRPr b="1" sz="1200">
              <a:solidFill>
                <a:srgbClr val="F43F5E"/>
              </a:solidFill>
              <a:latin typeface="Roboto"/>
              <a:ea typeface="Roboto"/>
              <a:cs typeface="Roboto"/>
              <a:sym typeface="Roboto"/>
            </a:endParaRPr>
          </a:p>
        </p:txBody>
      </p:sp>
      <p:sp>
        <p:nvSpPr>
          <p:cNvPr id="164" name="Google Shape;164;p19"/>
          <p:cNvSpPr txBox="1"/>
          <p:nvPr/>
        </p:nvSpPr>
        <p:spPr>
          <a:xfrm>
            <a:off x="698500" y="3556000"/>
            <a:ext cx="4140300" cy="11685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Automated Critical Path Isolation:</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Dijkstra traces highest-probability traversal from entry point to Tier-0 DC01.</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Traversal vectors highlighted in glowing Crimson with bezier arrow curves.</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Cumulative breach probability (100.00%) and hop count computed instantly.</a:t>
            </a:r>
            <a:endParaRPr sz="950">
              <a:solidFill>
                <a:srgbClr val="94A3B8"/>
              </a:solidFill>
              <a:latin typeface="Roboto"/>
              <a:ea typeface="Roboto"/>
              <a:cs typeface="Roboto"/>
              <a:sym typeface="Roboto"/>
            </a:endParaRPr>
          </a:p>
          <a:p>
            <a:pPr indent="0" lvl="0" marL="0" rtl="0" algn="l">
              <a:lnSpc>
                <a:spcPct val="120000"/>
              </a:lnSpc>
              <a:spcBef>
                <a:spcPts val="0"/>
              </a:spcBef>
              <a:spcAft>
                <a:spcPts val="0"/>
              </a:spcAft>
              <a:buNone/>
            </a:pPr>
            <a:r>
              <a:rPr lang="en" sz="950">
                <a:solidFill>
                  <a:srgbClr val="94A3B8"/>
                </a:solidFill>
                <a:latin typeface="Roboto"/>
                <a:ea typeface="Roboto"/>
                <a:cs typeface="Roboto"/>
                <a:sym typeface="Roboto"/>
              </a:rPr>
              <a:t>• In-app toast stack displays alert confirmation with zero UI thread locking.</a:t>
            </a:r>
            <a:endParaRPr sz="950">
              <a:solidFill>
                <a:srgbClr val="94A3B8"/>
              </a:solidFill>
              <a:latin typeface="Roboto"/>
              <a:ea typeface="Roboto"/>
              <a:cs typeface="Roboto"/>
              <a:sym typeface="Roboto"/>
            </a:endParaRPr>
          </a:p>
        </p:txBody>
      </p:sp>
      <p:sp>
        <p:nvSpPr>
          <p:cNvPr id="165" name="Google Shape;165;p19"/>
          <p:cNvSpPr/>
          <p:nvPr/>
        </p:nvSpPr>
        <p:spPr>
          <a:xfrm>
            <a:off x="5143500" y="1041400"/>
            <a:ext cx="34545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6" name="Google Shape;166;p19"/>
          <p:cNvSpPr txBox="1"/>
          <p:nvPr/>
        </p:nvSpPr>
        <p:spPr>
          <a:xfrm>
            <a:off x="5295900" y="1168400"/>
            <a:ext cx="3149700" cy="279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C084FC"/>
                </a:solidFill>
                <a:latin typeface="Roboto"/>
                <a:ea typeface="Roboto"/>
                <a:cs typeface="Roboto"/>
                <a:sym typeface="Roboto"/>
              </a:rPr>
              <a:t>What-If Remediation Results</a:t>
            </a:r>
            <a:endParaRPr b="1" sz="1200">
              <a:solidFill>
                <a:srgbClr val="C084FC"/>
              </a:solidFill>
              <a:latin typeface="Roboto"/>
              <a:ea typeface="Roboto"/>
              <a:cs typeface="Roboto"/>
              <a:sym typeface="Roboto"/>
            </a:endParaRPr>
          </a:p>
        </p:txBody>
      </p:sp>
      <p:sp>
        <p:nvSpPr>
          <p:cNvPr id="167" name="Google Shape;167;p19"/>
          <p:cNvSpPr/>
          <p:nvPr/>
        </p:nvSpPr>
        <p:spPr>
          <a:xfrm>
            <a:off x="5295900" y="1524000"/>
            <a:ext cx="3149700" cy="6351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19"/>
          <p:cNvSpPr txBox="1"/>
          <p:nvPr/>
        </p:nvSpPr>
        <p:spPr>
          <a:xfrm>
            <a:off x="5359400" y="1574800"/>
            <a:ext cx="30225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C084FC"/>
                </a:solidFill>
                <a:latin typeface="Roboto"/>
                <a:ea typeface="Roboto"/>
                <a:cs typeface="Roboto"/>
                <a:sym typeface="Roboto"/>
              </a:rPr>
              <a:t>Topological Choke Point Identified:</a:t>
            </a:r>
            <a:endParaRPr b="1" sz="900">
              <a:solidFill>
                <a:srgbClr val="C084FC"/>
              </a:solidFill>
              <a:latin typeface="Roboto"/>
              <a:ea typeface="Roboto"/>
              <a:cs typeface="Roboto"/>
              <a:sym typeface="Roboto"/>
            </a:endParaRPr>
          </a:p>
          <a:p>
            <a:pPr indent="0" lvl="0" marL="0" rtl="0" algn="l">
              <a:spcBef>
                <a:spcPts val="0"/>
              </a:spcBef>
              <a:spcAft>
                <a:spcPts val="0"/>
              </a:spcAft>
              <a:buNone/>
            </a:pPr>
            <a:r>
              <a:rPr b="1" lang="en" sz="900">
                <a:solidFill>
                  <a:srgbClr val="C084FC"/>
                </a:solidFill>
                <a:latin typeface="Roboto"/>
                <a:ea typeface="Roboto"/>
                <a:cs typeface="Roboto"/>
                <a:sym typeface="Roboto"/>
              </a:rPr>
              <a:t>DF-MS-SHS.PHANTOM.CORP (Primary Cut-Vertex)</a:t>
            </a:r>
            <a:endParaRPr b="1" sz="900">
              <a:solidFill>
                <a:srgbClr val="C084FC"/>
              </a:solidFill>
              <a:latin typeface="Roboto"/>
              <a:ea typeface="Roboto"/>
              <a:cs typeface="Roboto"/>
              <a:sym typeface="Roboto"/>
            </a:endParaRPr>
          </a:p>
        </p:txBody>
      </p:sp>
      <p:sp>
        <p:nvSpPr>
          <p:cNvPr id="169" name="Google Shape;169;p19"/>
          <p:cNvSpPr/>
          <p:nvPr/>
        </p:nvSpPr>
        <p:spPr>
          <a:xfrm>
            <a:off x="5295900" y="2235200"/>
            <a:ext cx="3149700" cy="6351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0" name="Google Shape;170;p19"/>
          <p:cNvSpPr txBox="1"/>
          <p:nvPr/>
        </p:nvSpPr>
        <p:spPr>
          <a:xfrm>
            <a:off x="5359400" y="2286000"/>
            <a:ext cx="30225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10B981"/>
                </a:solidFill>
                <a:latin typeface="Roboto"/>
                <a:ea typeface="Roboto"/>
                <a:cs typeface="Roboto"/>
                <a:sym typeface="Roboto"/>
              </a:rPr>
              <a:t>Simulation Outcome:</a:t>
            </a:r>
            <a:endParaRPr b="1" sz="900">
              <a:solidFill>
                <a:srgbClr val="10B981"/>
              </a:solidFill>
              <a:latin typeface="Roboto"/>
              <a:ea typeface="Roboto"/>
              <a:cs typeface="Roboto"/>
              <a:sym typeface="Roboto"/>
            </a:endParaRPr>
          </a:p>
          <a:p>
            <a:pPr indent="0" lvl="0" marL="0" rtl="0" algn="l">
              <a:spcBef>
                <a:spcPts val="0"/>
              </a:spcBef>
              <a:spcAft>
                <a:spcPts val="0"/>
              </a:spcAft>
              <a:buNone/>
            </a:pPr>
            <a:r>
              <a:rPr b="1" lang="en" sz="900">
                <a:solidFill>
                  <a:srgbClr val="10B981"/>
                </a:solidFill>
                <a:latin typeface="Roboto"/>
                <a:ea typeface="Roboto"/>
                <a:cs typeface="Roboto"/>
                <a:sym typeface="Roboto"/>
              </a:rPr>
              <a:t>Severing node eliminates 8 viable breach chains</a:t>
            </a:r>
            <a:endParaRPr b="1" sz="900">
              <a:solidFill>
                <a:srgbClr val="10B981"/>
              </a:solidFill>
              <a:latin typeface="Roboto"/>
              <a:ea typeface="Roboto"/>
              <a:cs typeface="Roboto"/>
              <a:sym typeface="Roboto"/>
            </a:endParaRPr>
          </a:p>
        </p:txBody>
      </p:sp>
      <p:sp>
        <p:nvSpPr>
          <p:cNvPr id="171" name="Google Shape;171;p19"/>
          <p:cNvSpPr/>
          <p:nvPr/>
        </p:nvSpPr>
        <p:spPr>
          <a:xfrm>
            <a:off x="5295900" y="2946400"/>
            <a:ext cx="3149700" cy="635100"/>
          </a:xfrm>
          <a:prstGeom prst="roundRect">
            <a:avLst>
              <a:gd fmla="val 16667" name="adj"/>
            </a:avLst>
          </a:prstGeom>
          <a:solidFill>
            <a:srgbClr val="0B112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 name="Google Shape;172;p19"/>
          <p:cNvSpPr txBox="1"/>
          <p:nvPr/>
        </p:nvSpPr>
        <p:spPr>
          <a:xfrm>
            <a:off x="5359400" y="2997200"/>
            <a:ext cx="3022500" cy="53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rgbClr val="F43F5E"/>
                </a:solidFill>
                <a:latin typeface="Roboto"/>
                <a:ea typeface="Roboto"/>
                <a:cs typeface="Roboto"/>
                <a:sym typeface="Roboto"/>
              </a:rPr>
              <a:t>Quantified ROI Impact:</a:t>
            </a:r>
            <a:endParaRPr b="1" sz="900">
              <a:solidFill>
                <a:srgbClr val="F43F5E"/>
              </a:solidFill>
              <a:latin typeface="Roboto"/>
              <a:ea typeface="Roboto"/>
              <a:cs typeface="Roboto"/>
              <a:sym typeface="Roboto"/>
            </a:endParaRPr>
          </a:p>
          <a:p>
            <a:pPr indent="0" lvl="0" marL="0" rtl="0" algn="l">
              <a:spcBef>
                <a:spcPts val="0"/>
              </a:spcBef>
              <a:spcAft>
                <a:spcPts val="0"/>
              </a:spcAft>
              <a:buNone/>
            </a:pPr>
            <a:r>
              <a:rPr b="1" lang="en" sz="900">
                <a:solidFill>
                  <a:srgbClr val="F43F5E"/>
                </a:solidFill>
                <a:latin typeface="Roboto"/>
                <a:ea typeface="Roboto"/>
                <a:cs typeface="Roboto"/>
                <a:sym typeface="Roboto"/>
              </a:rPr>
              <a:t>19.0% Reduction in Total Enterprise Exposure</a:t>
            </a:r>
            <a:endParaRPr b="1" sz="900">
              <a:solidFill>
                <a:srgbClr val="F43F5E"/>
              </a:solidFill>
              <a:latin typeface="Roboto"/>
              <a:ea typeface="Roboto"/>
              <a:cs typeface="Roboto"/>
              <a:sym typeface="Roboto"/>
            </a:endParaRPr>
          </a:p>
        </p:txBody>
      </p:sp>
      <p:sp>
        <p:nvSpPr>
          <p:cNvPr id="173" name="Google Shape;173;p19"/>
          <p:cNvSpPr txBox="1"/>
          <p:nvPr/>
        </p:nvSpPr>
        <p:spPr>
          <a:xfrm>
            <a:off x="5295900" y="3683000"/>
            <a:ext cx="3149700" cy="104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94A3B8"/>
                </a:solidFill>
                <a:latin typeface="Roboto"/>
                <a:ea typeface="Roboto"/>
                <a:cs typeface="Roboto"/>
                <a:sym typeface="Roboto"/>
              </a:rPr>
              <a:t>Non-destructive in-memory cloning allows security operators to test firewall rule changes and ACL revocations without risking production downtime.</a:t>
            </a:r>
            <a:endParaRPr sz="900">
              <a:solidFill>
                <a:srgbClr val="94A3B8"/>
              </a:solidFill>
              <a:latin typeface="Roboto"/>
              <a:ea typeface="Roboto"/>
              <a:cs typeface="Roboto"/>
              <a:sym typeface="Roboto"/>
            </a:endParaRPr>
          </a:p>
        </p:txBody>
      </p:sp>
      <p:pic>
        <p:nvPicPr>
          <p:cNvPr id="174" name="Google Shape;174;p19"/>
          <p:cNvPicPr preferRelativeResize="0"/>
          <p:nvPr/>
        </p:nvPicPr>
        <p:blipFill>
          <a:blip r:embed="rId3">
            <a:alphaModFix/>
          </a:blip>
          <a:stretch>
            <a:fillRect/>
          </a:stretch>
        </p:blipFill>
        <p:spPr>
          <a:xfrm>
            <a:off x="698500" y="1575025"/>
            <a:ext cx="4140202" cy="18156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78" name="Shape 178"/>
        <p:cNvGrpSpPr/>
        <p:nvPr/>
      </p:nvGrpSpPr>
      <p:grpSpPr>
        <a:xfrm>
          <a:off x="0" y="0"/>
          <a:ext cx="0" cy="0"/>
          <a:chOff x="0" y="0"/>
          <a:chExt cx="0" cy="0"/>
        </a:xfrm>
      </p:grpSpPr>
      <p:sp>
        <p:nvSpPr>
          <p:cNvPr id="179" name="Google Shape;179;p20"/>
          <p:cNvSpPr/>
          <p:nvPr/>
        </p:nvSpPr>
        <p:spPr>
          <a:xfrm>
            <a:off x="546100" y="228600"/>
            <a:ext cx="2159100" cy="2541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0" name="Google Shape;180;p20"/>
          <p:cNvSpPr txBox="1"/>
          <p:nvPr/>
        </p:nvSpPr>
        <p:spPr>
          <a:xfrm>
            <a:off x="546100" y="228600"/>
            <a:ext cx="2159100" cy="254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50">
                <a:solidFill>
                  <a:srgbClr val="38BDF8"/>
                </a:solidFill>
                <a:latin typeface="Roboto"/>
                <a:ea typeface="Roboto"/>
                <a:cs typeface="Roboto"/>
                <a:sym typeface="Roboto"/>
              </a:rPr>
              <a:t>VERIFICATION &amp; ROADMAP</a:t>
            </a:r>
            <a:endParaRPr b="1" sz="850">
              <a:solidFill>
                <a:srgbClr val="38BDF8"/>
              </a:solidFill>
              <a:latin typeface="Roboto"/>
              <a:ea typeface="Roboto"/>
              <a:cs typeface="Roboto"/>
              <a:sym typeface="Roboto"/>
            </a:endParaRPr>
          </a:p>
        </p:txBody>
      </p:sp>
      <p:sp>
        <p:nvSpPr>
          <p:cNvPr id="181" name="Google Shape;181;p20"/>
          <p:cNvSpPr txBox="1"/>
          <p:nvPr/>
        </p:nvSpPr>
        <p:spPr>
          <a:xfrm>
            <a:off x="546100" y="533400"/>
            <a:ext cx="8051700" cy="431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1800">
                <a:solidFill>
                  <a:srgbClr val="F8FAFC"/>
                </a:solidFill>
                <a:latin typeface="Roboto"/>
                <a:ea typeface="Roboto"/>
                <a:cs typeface="Roboto"/>
                <a:sym typeface="Roboto"/>
              </a:rPr>
              <a:t>Testing, Verification, Future Scope and Conclusion</a:t>
            </a:r>
            <a:endParaRPr b="1" sz="1800">
              <a:solidFill>
                <a:srgbClr val="F8FAFC"/>
              </a:solidFill>
              <a:latin typeface="Roboto"/>
              <a:ea typeface="Roboto"/>
              <a:cs typeface="Roboto"/>
              <a:sym typeface="Roboto"/>
            </a:endParaRPr>
          </a:p>
        </p:txBody>
      </p:sp>
      <p:sp>
        <p:nvSpPr>
          <p:cNvPr id="182" name="Google Shape;182;p20"/>
          <p:cNvSpPr/>
          <p:nvPr/>
        </p:nvSpPr>
        <p:spPr>
          <a:xfrm>
            <a:off x="546100" y="1041400"/>
            <a:ext cx="2514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3" name="Google Shape;183;p20"/>
          <p:cNvSpPr txBox="1"/>
          <p:nvPr/>
        </p:nvSpPr>
        <p:spPr>
          <a:xfrm>
            <a:off x="673100" y="1168400"/>
            <a:ext cx="2260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38BDF8"/>
                </a:solidFill>
                <a:latin typeface="Roboto"/>
                <a:ea typeface="Roboto"/>
                <a:cs typeface="Roboto"/>
                <a:sym typeface="Roboto"/>
              </a:rPr>
              <a:t>Testing &amp; Verification</a:t>
            </a:r>
            <a:endParaRPr b="1" sz="1300">
              <a:solidFill>
                <a:srgbClr val="38BDF8"/>
              </a:solidFill>
              <a:latin typeface="Roboto"/>
              <a:ea typeface="Roboto"/>
              <a:cs typeface="Roboto"/>
              <a:sym typeface="Roboto"/>
            </a:endParaRPr>
          </a:p>
        </p:txBody>
      </p:sp>
      <p:sp>
        <p:nvSpPr>
          <p:cNvPr id="184" name="Google Shape;184;p20"/>
          <p:cNvSpPr txBox="1"/>
          <p:nvPr/>
        </p:nvSpPr>
        <p:spPr>
          <a:xfrm>
            <a:off x="673100" y="1524000"/>
            <a:ext cx="2260500" cy="3174900"/>
          </a:xfrm>
          <a:prstGeom prst="rect">
            <a:avLst/>
          </a:prstGeom>
          <a:noFill/>
          <a:ln>
            <a:noFill/>
          </a:ln>
        </p:spPr>
        <p:txBody>
          <a:bodyPr anchorCtr="0" anchor="t" bIns="91425" lIns="91425" spcFirstLastPara="1" rIns="91425" wrap="square" tIns="91425">
            <a:noAutofit/>
          </a:bodyPr>
          <a:lstStyle/>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Ingestion Testing: Verified polymorphic BloodHound JSON parsing across 485 nodes.</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Algorithm Testing: Verified Dijkstra shortest paths ($W = 1/T$) against known Active Directory DCSync attack vectors.</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Asynchronous Batch Testing: Verified Memgraph MAGE synchronization completes with zero HTTP thread blocking (&lt;100ms).</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Canvas Benchmark: Confirmed 60 FPS viewport stability on dense graphs.</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SSE Stream Verification: Tested real-time telemetry alert propagation.</a:t>
            </a:r>
            <a:endParaRPr sz="950">
              <a:solidFill>
                <a:srgbClr val="94A3B8"/>
              </a:solidFill>
              <a:latin typeface="Roboto"/>
              <a:ea typeface="Roboto"/>
              <a:cs typeface="Roboto"/>
              <a:sym typeface="Roboto"/>
            </a:endParaRPr>
          </a:p>
        </p:txBody>
      </p:sp>
      <p:sp>
        <p:nvSpPr>
          <p:cNvPr id="185" name="Google Shape;185;p20"/>
          <p:cNvSpPr/>
          <p:nvPr/>
        </p:nvSpPr>
        <p:spPr>
          <a:xfrm>
            <a:off x="3314700" y="1041400"/>
            <a:ext cx="2514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6" name="Google Shape;186;p20"/>
          <p:cNvSpPr txBox="1"/>
          <p:nvPr/>
        </p:nvSpPr>
        <p:spPr>
          <a:xfrm>
            <a:off x="3441700" y="1168400"/>
            <a:ext cx="2260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F59E0B"/>
                </a:solidFill>
                <a:latin typeface="Roboto"/>
                <a:ea typeface="Roboto"/>
                <a:cs typeface="Roboto"/>
                <a:sym typeface="Roboto"/>
              </a:rPr>
              <a:t>Future Scope</a:t>
            </a:r>
            <a:endParaRPr b="1" sz="1300">
              <a:solidFill>
                <a:srgbClr val="F59E0B"/>
              </a:solidFill>
              <a:latin typeface="Roboto"/>
              <a:ea typeface="Roboto"/>
              <a:cs typeface="Roboto"/>
              <a:sym typeface="Roboto"/>
            </a:endParaRPr>
          </a:p>
        </p:txBody>
      </p:sp>
      <p:sp>
        <p:nvSpPr>
          <p:cNvPr id="187" name="Google Shape;187;p20"/>
          <p:cNvSpPr txBox="1"/>
          <p:nvPr/>
        </p:nvSpPr>
        <p:spPr>
          <a:xfrm>
            <a:off x="3441700" y="1524000"/>
            <a:ext cx="2260500" cy="3174900"/>
          </a:xfrm>
          <a:prstGeom prst="rect">
            <a:avLst/>
          </a:prstGeom>
          <a:noFill/>
          <a:ln>
            <a:noFill/>
          </a:ln>
        </p:spPr>
        <p:txBody>
          <a:bodyPr anchorCtr="0" anchor="t" bIns="91425" lIns="91425" spcFirstLastPara="1" rIns="91425" wrap="square" tIns="91425">
            <a:noAutofit/>
          </a:bodyPr>
          <a:lstStyle/>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Graph Neural Networks (GNN): Predictive zero-day attack path discovery on novel topologies.</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Kubernetes RBAC Ingestion: Mapping pod service accounts and cluster role bindings.</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Automated Terraform PRs: Generating automated Infrastructure-as-Code pull requests to sever discovered choke points.</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Azure &amp; GCP Expansion: Multi-cloud identity mapping across Microsoft Entra ID and Google Cloud IAM.</a:t>
            </a:r>
            <a:endParaRPr sz="950">
              <a:solidFill>
                <a:srgbClr val="94A3B8"/>
              </a:solidFill>
              <a:latin typeface="Roboto"/>
              <a:ea typeface="Roboto"/>
              <a:cs typeface="Roboto"/>
              <a:sym typeface="Roboto"/>
            </a:endParaRPr>
          </a:p>
        </p:txBody>
      </p:sp>
      <p:sp>
        <p:nvSpPr>
          <p:cNvPr id="188" name="Google Shape;188;p20"/>
          <p:cNvSpPr/>
          <p:nvPr/>
        </p:nvSpPr>
        <p:spPr>
          <a:xfrm>
            <a:off x="6083300" y="1041400"/>
            <a:ext cx="2514600" cy="37845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0"/>
          <p:cNvSpPr txBox="1"/>
          <p:nvPr/>
        </p:nvSpPr>
        <p:spPr>
          <a:xfrm>
            <a:off x="6210300" y="1168400"/>
            <a:ext cx="2260500" cy="30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10B981"/>
                </a:solidFill>
                <a:latin typeface="Roboto"/>
                <a:ea typeface="Roboto"/>
                <a:cs typeface="Roboto"/>
                <a:sym typeface="Roboto"/>
              </a:rPr>
              <a:t>Project Conclusion</a:t>
            </a:r>
            <a:endParaRPr b="1" sz="1300">
              <a:solidFill>
                <a:srgbClr val="10B981"/>
              </a:solidFill>
              <a:latin typeface="Roboto"/>
              <a:ea typeface="Roboto"/>
              <a:cs typeface="Roboto"/>
              <a:sym typeface="Roboto"/>
            </a:endParaRPr>
          </a:p>
        </p:txBody>
      </p:sp>
      <p:sp>
        <p:nvSpPr>
          <p:cNvPr id="190" name="Google Shape;190;p20"/>
          <p:cNvSpPr txBox="1"/>
          <p:nvPr/>
        </p:nvSpPr>
        <p:spPr>
          <a:xfrm>
            <a:off x="6210300" y="1524000"/>
            <a:ext cx="2260500" cy="3174900"/>
          </a:xfrm>
          <a:prstGeom prst="rect">
            <a:avLst/>
          </a:prstGeom>
          <a:noFill/>
          <a:ln>
            <a:noFill/>
          </a:ln>
        </p:spPr>
        <p:txBody>
          <a:bodyPr anchorCtr="0" anchor="t" bIns="91425" lIns="91425" spcFirstLastPara="1" rIns="91425" wrap="square" tIns="91425">
            <a:noAutofit/>
          </a:bodyPr>
          <a:lstStyle/>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AegisPath Enterprise successfully solves the fundamental operational blindspot in modern cyber defense by transforming scattered vulnerabilities into an actionable, mathematically modeled attack graph.</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Eliminates CVSS alert fatigue through reachability context.</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Provides quantifiable ROI for remediation decisions.</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t/>
            </a:r>
            <a:endParaRPr sz="950">
              <a:solidFill>
                <a:srgbClr val="94A3B8"/>
              </a:solidFill>
              <a:latin typeface="Roboto"/>
              <a:ea typeface="Roboto"/>
              <a:cs typeface="Roboto"/>
              <a:sym typeface="Roboto"/>
            </a:endParaRPr>
          </a:p>
          <a:p>
            <a:pPr indent="0" lvl="0" marL="0" rtl="0" algn="l">
              <a:lnSpc>
                <a:spcPct val="122000"/>
              </a:lnSpc>
              <a:spcBef>
                <a:spcPts val="0"/>
              </a:spcBef>
              <a:spcAft>
                <a:spcPts val="0"/>
              </a:spcAft>
              <a:buNone/>
            </a:pPr>
            <a:r>
              <a:rPr lang="en" sz="950">
                <a:solidFill>
                  <a:srgbClr val="94A3B8"/>
                </a:solidFill>
                <a:latin typeface="Roboto"/>
                <a:ea typeface="Roboto"/>
                <a:cs typeface="Roboto"/>
                <a:sym typeface="Roboto"/>
              </a:rPr>
              <a:t>• Open-source codebase published on GitHub at genre-tech/aegispath.</a:t>
            </a:r>
            <a:endParaRPr sz="950">
              <a:solidFill>
                <a:srgbClr val="94A3B8"/>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94" name="Shape 194"/>
        <p:cNvGrpSpPr/>
        <p:nvPr/>
      </p:nvGrpSpPr>
      <p:grpSpPr>
        <a:xfrm>
          <a:off x="0" y="0"/>
          <a:ext cx="0" cy="0"/>
          <a:chOff x="0" y="0"/>
          <a:chExt cx="0" cy="0"/>
        </a:xfrm>
      </p:grpSpPr>
      <p:sp>
        <p:nvSpPr>
          <p:cNvPr id="195" name="Google Shape;195;p21"/>
          <p:cNvSpPr/>
          <p:nvPr/>
        </p:nvSpPr>
        <p:spPr>
          <a:xfrm>
            <a:off x="0" y="0"/>
            <a:ext cx="9144000" cy="101700"/>
          </a:xfrm>
          <a:prstGeom prst="rect">
            <a:avLst/>
          </a:prstGeom>
          <a:solidFill>
            <a:srgbClr val="2563E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1"/>
          <p:cNvSpPr txBox="1"/>
          <p:nvPr/>
        </p:nvSpPr>
        <p:spPr>
          <a:xfrm>
            <a:off x="1714500" y="1206500"/>
            <a:ext cx="5715000" cy="685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4200">
                <a:solidFill>
                  <a:srgbClr val="F8FAFC"/>
                </a:solidFill>
                <a:latin typeface="Roboto"/>
                <a:ea typeface="Roboto"/>
                <a:cs typeface="Roboto"/>
                <a:sym typeface="Roboto"/>
              </a:rPr>
              <a:t>Thank You</a:t>
            </a:r>
            <a:endParaRPr b="1" sz="4200">
              <a:solidFill>
                <a:srgbClr val="F8FAFC"/>
              </a:solidFill>
              <a:latin typeface="Roboto"/>
              <a:ea typeface="Roboto"/>
              <a:cs typeface="Roboto"/>
              <a:sym typeface="Roboto"/>
            </a:endParaRPr>
          </a:p>
        </p:txBody>
      </p:sp>
      <p:sp>
        <p:nvSpPr>
          <p:cNvPr id="197" name="Google Shape;197;p21"/>
          <p:cNvSpPr txBox="1"/>
          <p:nvPr/>
        </p:nvSpPr>
        <p:spPr>
          <a:xfrm>
            <a:off x="1714500" y="2133600"/>
            <a:ext cx="5715000" cy="685800"/>
          </a:xfrm>
          <a:prstGeom prst="rect">
            <a:avLst/>
          </a:prstGeom>
          <a:noFill/>
          <a:ln>
            <a:noFill/>
          </a:ln>
        </p:spPr>
        <p:txBody>
          <a:bodyPr anchorCtr="0" anchor="t" bIns="91425" lIns="91425" spcFirstLastPara="1" rIns="91425" wrap="square" tIns="91425">
            <a:noAutofit/>
          </a:bodyPr>
          <a:lstStyle/>
          <a:p>
            <a:pPr indent="0" lvl="0" marL="0" rtl="0" algn="ctr">
              <a:lnSpc>
                <a:spcPct val="130000"/>
              </a:lnSpc>
              <a:spcBef>
                <a:spcPts val="0"/>
              </a:spcBef>
              <a:spcAft>
                <a:spcPts val="0"/>
              </a:spcAft>
              <a:buNone/>
            </a:pPr>
            <a:r>
              <a:rPr lang="en">
                <a:solidFill>
                  <a:srgbClr val="94A3B8"/>
                </a:solidFill>
                <a:latin typeface="Roboto"/>
                <a:ea typeface="Roboto"/>
                <a:cs typeface="Roboto"/>
                <a:sym typeface="Roboto"/>
              </a:rPr>
              <a:t>Presented by:</a:t>
            </a:r>
            <a:endParaRPr>
              <a:solidFill>
                <a:srgbClr val="94A3B8"/>
              </a:solidFill>
              <a:latin typeface="Roboto"/>
              <a:ea typeface="Roboto"/>
              <a:cs typeface="Roboto"/>
              <a:sym typeface="Roboto"/>
            </a:endParaRPr>
          </a:p>
          <a:p>
            <a:pPr indent="0" lvl="0" marL="0" rtl="0" algn="ctr">
              <a:lnSpc>
                <a:spcPct val="130000"/>
              </a:lnSpc>
              <a:spcBef>
                <a:spcPts val="0"/>
              </a:spcBef>
              <a:spcAft>
                <a:spcPts val="0"/>
              </a:spcAft>
              <a:buNone/>
            </a:pPr>
            <a:r>
              <a:rPr lang="en">
                <a:solidFill>
                  <a:srgbClr val="94A3B8"/>
                </a:solidFill>
                <a:latin typeface="Roboto"/>
                <a:ea typeface="Roboto"/>
                <a:cs typeface="Roboto"/>
                <a:sym typeface="Roboto"/>
              </a:rPr>
              <a:t>Tanishq Jain</a:t>
            </a:r>
            <a:endParaRPr>
              <a:solidFill>
                <a:srgbClr val="94A3B8"/>
              </a:solidFill>
              <a:latin typeface="Roboto"/>
              <a:ea typeface="Roboto"/>
              <a:cs typeface="Roboto"/>
              <a:sym typeface="Roboto"/>
            </a:endParaRPr>
          </a:p>
          <a:p>
            <a:pPr indent="0" lvl="0" marL="0" rtl="0" algn="ctr">
              <a:lnSpc>
                <a:spcPct val="130000"/>
              </a:lnSpc>
              <a:spcBef>
                <a:spcPts val="0"/>
              </a:spcBef>
              <a:spcAft>
                <a:spcPts val="0"/>
              </a:spcAft>
              <a:buNone/>
            </a:pPr>
            <a:r>
              <a:rPr lang="en">
                <a:solidFill>
                  <a:srgbClr val="94A3B8"/>
                </a:solidFill>
                <a:latin typeface="Roboto"/>
                <a:ea typeface="Roboto"/>
                <a:cs typeface="Roboto"/>
                <a:sym typeface="Roboto"/>
              </a:rPr>
              <a:t>Lead Systems Architect &amp; Security Engineering</a:t>
            </a:r>
            <a:endParaRPr>
              <a:solidFill>
                <a:srgbClr val="94A3B8"/>
              </a:solidFill>
              <a:latin typeface="Roboto"/>
              <a:ea typeface="Roboto"/>
              <a:cs typeface="Roboto"/>
              <a:sym typeface="Roboto"/>
            </a:endParaRPr>
          </a:p>
        </p:txBody>
      </p:sp>
      <p:sp>
        <p:nvSpPr>
          <p:cNvPr id="198" name="Google Shape;198;p21"/>
          <p:cNvSpPr/>
          <p:nvPr/>
        </p:nvSpPr>
        <p:spPr>
          <a:xfrm>
            <a:off x="2286000" y="3073400"/>
            <a:ext cx="4572000" cy="457200"/>
          </a:xfrm>
          <a:prstGeom prst="roundRect">
            <a:avLst>
              <a:gd fmla="val 16667" name="adj"/>
            </a:avLst>
          </a:prstGeom>
          <a:solidFill>
            <a:srgbClr val="1E293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9" name="Google Shape;199;p21"/>
          <p:cNvSpPr txBox="1"/>
          <p:nvPr/>
        </p:nvSpPr>
        <p:spPr>
          <a:xfrm>
            <a:off x="2286000" y="3073400"/>
            <a:ext cx="45720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rgbClr val="38BDF8"/>
                </a:solidFill>
                <a:latin typeface="Roboto"/>
                <a:ea typeface="Roboto"/>
                <a:cs typeface="Roboto"/>
                <a:sym typeface="Roboto"/>
              </a:rPr>
              <a:t>Open for Questions &amp; System Demonstration</a:t>
            </a:r>
            <a:endParaRPr b="1" sz="1200">
              <a:solidFill>
                <a:srgbClr val="38BDF8"/>
              </a:solidFill>
              <a:latin typeface="Roboto"/>
              <a:ea typeface="Roboto"/>
              <a:cs typeface="Roboto"/>
              <a:sym typeface="Roboto"/>
            </a:endParaRPr>
          </a:p>
        </p:txBody>
      </p:sp>
      <p:sp>
        <p:nvSpPr>
          <p:cNvPr id="200" name="Google Shape;200;p21"/>
          <p:cNvSpPr txBox="1"/>
          <p:nvPr/>
        </p:nvSpPr>
        <p:spPr>
          <a:xfrm>
            <a:off x="1714500" y="3784600"/>
            <a:ext cx="5715000" cy="38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38BDF8"/>
                </a:solidFill>
                <a:latin typeface="Roboto"/>
                <a:ea typeface="Roboto"/>
                <a:cs typeface="Roboto"/>
                <a:sym typeface="Roboto"/>
              </a:rPr>
              <a:t>Project Repository: https://github.com/genre-tech/aegispath</a:t>
            </a:r>
            <a:endParaRPr sz="1100">
              <a:solidFill>
                <a:srgbClr val="38BDF8"/>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